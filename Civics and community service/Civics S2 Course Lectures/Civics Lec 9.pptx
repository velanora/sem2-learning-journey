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9" r:id="rId15"/>
    <p:sldId id="266" r:id="rId16"/>
    <p:sldId id="267" r:id="rId17"/>
    <p:sldId id="268" r:id="rId18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2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1B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0"/>
            <a:ext cx="2834640" cy="5143500"/>
          </a:xfrm>
          <a:prstGeom prst="rect">
            <a:avLst/>
          </a:prstGeom>
          <a:solidFill>
            <a:srgbClr val="3D2B85"/>
          </a:solidFill>
          <a:ln w="12700">
            <a:solidFill>
              <a:srgbClr val="3D2B8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040880" y="0"/>
            <a:ext cx="2103120" cy="5143500"/>
          </a:xfrm>
          <a:prstGeom prst="rect">
            <a:avLst/>
          </a:prstGeom>
          <a:solidFill>
            <a:srgbClr val="4E3D9E"/>
          </a:solidFill>
          <a:ln w="12700">
            <a:solidFill>
              <a:srgbClr val="4E3D9E"/>
            </a:solidFill>
            <a:prstDash val="solid"/>
          </a:ln>
        </p:spPr>
        <p:txBody>
          <a:bodyPr/>
          <a:p>
            <a:pPr marL="0" indent="0" algn="ctr">
              <a:buNone/>
            </a:pPr>
            <a:endParaRPr lang="en-US" sz="1600" b="1" dirty="0">
              <a:solidFill>
                <a:schemeClr val="bg1"/>
              </a:solidFill>
              <a:sym typeface="+mn-ea"/>
            </a:endParaRPr>
          </a:p>
          <a:p>
            <a:pPr marL="0" indent="0" algn="ctr">
              <a:buNone/>
            </a:pPr>
            <a:endParaRPr lang="en-US" sz="1600" b="1" dirty="0">
              <a:solidFill>
                <a:schemeClr val="bg1"/>
              </a:solidFill>
              <a:sym typeface="+mn-ea"/>
            </a:endParaRPr>
          </a:p>
          <a:p>
            <a:pPr marL="0" indent="0" algn="ctr">
              <a:buNone/>
            </a:pPr>
            <a:endParaRPr lang="en-US" sz="1600" b="1" dirty="0">
              <a:solidFill>
                <a:schemeClr val="bg1"/>
              </a:solidFill>
              <a:sym typeface="+mn-ea"/>
            </a:endParaRPr>
          </a:p>
          <a:p>
            <a:pPr marL="0" indent="0" algn="ctr">
              <a:buNone/>
            </a:pPr>
            <a:endParaRPr lang="en-US" sz="1600" b="1" dirty="0">
              <a:solidFill>
                <a:schemeClr val="bg1"/>
              </a:solidFill>
              <a:sym typeface="+mn-ea"/>
            </a:endParaRPr>
          </a:p>
          <a:p>
            <a:pPr marL="0" indent="0" algn="ctr">
              <a:buNone/>
            </a:pPr>
            <a:endParaRPr lang="en-US" sz="1600" b="1" dirty="0">
              <a:solidFill>
                <a:schemeClr val="bg1"/>
              </a:solidFill>
              <a:sym typeface="+mn-ea"/>
            </a:endParaRPr>
          </a:p>
          <a:p>
            <a:pPr marL="0" indent="0" algn="ctr">
              <a:buNone/>
            </a:pPr>
            <a:endParaRPr lang="en-US" sz="1600" b="1" dirty="0">
              <a:solidFill>
                <a:schemeClr val="bg1"/>
              </a:solidFill>
              <a:sym typeface="+mn-ea"/>
            </a:endParaRPr>
          </a:p>
          <a:p>
            <a:pPr marL="0" indent="0" algn="ctr">
              <a:buNone/>
            </a:pPr>
            <a:endParaRPr lang="en-US" sz="1600" b="1" dirty="0">
              <a:solidFill>
                <a:schemeClr val="bg1"/>
              </a:solidFill>
              <a:sym typeface="+mn-ea"/>
            </a:endParaRPr>
          </a:p>
          <a:p>
            <a:pPr marL="0" indent="0" algn="ctr">
              <a:buNone/>
            </a:pPr>
            <a:endParaRPr lang="en-US" sz="1600" b="1" dirty="0">
              <a:solidFill>
                <a:schemeClr val="bg1"/>
              </a:solidFill>
              <a:sym typeface="+mn-ea"/>
            </a:endParaRPr>
          </a:p>
          <a:p>
            <a:pPr marL="0" indent="0" algn="ctr">
              <a:buNone/>
            </a:pPr>
            <a:endParaRPr lang="en-US" sz="1600" b="1" dirty="0">
              <a:solidFill>
                <a:schemeClr val="bg1"/>
              </a:solidFill>
              <a:sym typeface="+mn-ea"/>
            </a:endParaRPr>
          </a:p>
          <a:p>
            <a:pPr marL="0" indent="0" algn="ctr">
              <a:buNone/>
            </a:pPr>
            <a:endParaRPr lang="en-US" sz="1600" b="1" dirty="0">
              <a:solidFill>
                <a:schemeClr val="bg1"/>
              </a:solidFill>
              <a:sym typeface="+mn-ea"/>
            </a:endParaRPr>
          </a:p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sym typeface="+mn-ea"/>
              </a:rPr>
              <a:t>Week 9</a:t>
            </a:r>
            <a:endParaRPr lang="en-US" sz="1600"/>
          </a:p>
        </p:txBody>
      </p:sp>
      <p:sp>
        <p:nvSpPr>
          <p:cNvPr id="4" name="Shape 2"/>
          <p:cNvSpPr/>
          <p:nvPr/>
        </p:nvSpPr>
        <p:spPr>
          <a:xfrm>
            <a:off x="7608570" y="548640"/>
            <a:ext cx="1032510" cy="4023360"/>
          </a:xfrm>
          <a:prstGeom prst="rect">
            <a:avLst/>
          </a:prstGeom>
          <a:solidFill>
            <a:srgbClr val="E8522A">
              <a:alpha val="25000"/>
            </a:srgbClr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475488"/>
            <a:ext cx="2834640" cy="32918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475488"/>
            <a:ext cx="28346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D1B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CIVICS &amp; COMMUNITY ENGAGEMENT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960120"/>
            <a:ext cx="5577840" cy="2926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Social
Entrepreneurship
</a:t>
            </a:r>
            <a:r>
              <a:rPr lang="en-US" sz="3200" b="1" dirty="0">
                <a:solidFill>
                  <a:srgbClr val="F0755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&amp; Civic Innovation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502920" y="3977640"/>
            <a:ext cx="5577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D4CC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Purpose · Models · Ethics · Pakistan Context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8522A">
              <a:alpha val="25000"/>
            </a:srgbClr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846320"/>
            <a:ext cx="8503920" cy="2971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411480" y="4846320"/>
            <a:ext cx="8229600" cy="2971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en-US" sz="1000" dirty="0">
                <a:solidFill>
                  <a:schemeClr val="bg1"/>
                </a:solidFill>
              </a:rPr>
              <a:t>Rabia Zia  |  rabia.zia@nu.edu.pk</a:t>
            </a:r>
            <a:endParaRPr lang="en-US" altLang="en-US" sz="1000" dirty="0">
              <a:solidFill>
                <a:schemeClr val="bg1"/>
              </a:solidFill>
            </a:endParaRPr>
          </a:p>
        </p:txBody>
      </p:sp>
      <p:pic>
        <p:nvPicPr>
          <p:cNvPr id="13" name="Picture 12"/>
          <p:cNvPicPr/>
          <p:nvPr/>
        </p:nvPicPr>
        <p:blipFill>
          <a:blip r:embed="rId1"/>
          <a:stretch>
            <a:fillRect/>
          </a:stretch>
        </p:blipFill>
        <p:spPr>
          <a:xfrm>
            <a:off x="7040880" y="548640"/>
            <a:ext cx="2103120" cy="1672590"/>
          </a:xfrm>
          <a:prstGeom prst="rect">
            <a:avLst/>
          </a:prstGeom>
        </p:spPr>
      </p:pic>
      <p:pic>
        <p:nvPicPr>
          <p:cNvPr id="14" name="Picture 13"/>
          <p:cNvPicPr/>
          <p:nvPr/>
        </p:nvPicPr>
        <p:blipFill>
          <a:blip r:embed="rId2"/>
          <a:srcRect l="4125" t="8724" r="5178" b="9722"/>
          <a:stretch>
            <a:fillRect/>
          </a:stretch>
        </p:blipFill>
        <p:spPr>
          <a:xfrm>
            <a:off x="7040880" y="3211195"/>
            <a:ext cx="2112645" cy="13608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503920" cy="4937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What We Will Cover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2D1B69">
              <a:alpha val="90000"/>
            </a:srgbClr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873752"/>
            <a:ext cx="8503920" cy="2697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D4CC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Social Entrepreneurship &amp; Civic Innovation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38912" y="786384"/>
            <a:ext cx="1170432" cy="3977640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38912" y="786384"/>
            <a:ext cx="1170432" cy="347472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786384"/>
            <a:ext cx="117043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1B69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43230" y="1225550"/>
            <a:ext cx="1162685" cy="62166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8522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What is Social Entrepreneur-ship?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12064" y="1901952"/>
            <a:ext cx="1024128" cy="2743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D4CC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Definition, civic innovation, and the mindset behind it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664208" y="786384"/>
            <a:ext cx="1170432" cy="3977640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664208" y="786384"/>
            <a:ext cx="1170432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786384"/>
            <a:ext cx="117043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1B69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737360" y="1225296"/>
            <a:ext cx="1024128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5A623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SE vs Charity, NGO &amp; CSR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737360" y="1901952"/>
            <a:ext cx="1024128" cy="2743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D4CC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these models differ in purpose, funding, and accountability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889504" y="786384"/>
            <a:ext cx="1170432" cy="3977640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889504" y="786384"/>
            <a:ext cx="1170432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89504" y="786384"/>
            <a:ext cx="117043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1B69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894965" y="1225550"/>
            <a:ext cx="1165225" cy="62166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948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Problems as Opportunities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962656" y="1901952"/>
            <a:ext cx="1024128" cy="2743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D4CC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Reframing social challenges as the foundation for sustainable solutions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114800" y="786384"/>
            <a:ext cx="1170432" cy="3977640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114800" y="786384"/>
            <a:ext cx="1170432" cy="347472"/>
          </a:xfrm>
          <a:prstGeom prst="rect">
            <a:avLst/>
          </a:prstGeom>
          <a:solidFill>
            <a:srgbClr val="F07550"/>
          </a:solidFill>
          <a:ln w="12700">
            <a:solidFill>
              <a:srgbClr val="F075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0" y="786384"/>
            <a:ext cx="117043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1B69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113530" y="1225550"/>
            <a:ext cx="1167765" cy="62166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0755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Impact &amp; Financial Sustainability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187952" y="1901952"/>
            <a:ext cx="1024128" cy="2743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D4CC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dual bottom line: balancing mission and money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340096" y="786384"/>
            <a:ext cx="1170432" cy="3977640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340096" y="786384"/>
            <a:ext cx="1170432" cy="347472"/>
          </a:xfrm>
          <a:prstGeom prst="rect">
            <a:avLst/>
          </a:prstGeom>
          <a:solidFill>
            <a:srgbClr val="4E3D9E"/>
          </a:solidFill>
          <a:ln w="12700">
            <a:solidFill>
              <a:srgbClr val="4E3D9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40096" y="786384"/>
            <a:ext cx="117043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1B69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413248" y="1225296"/>
            <a:ext cx="1024128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Social Enterprise Models</a:t>
            </a:r>
            <a:endParaRPr lang="en-US" sz="1050" b="1" dirty="0">
              <a:solidFill>
                <a:schemeClr val="bg1"/>
              </a:solidFill>
              <a:latin typeface="Georgia" panose="02040502050405020303" pitchFamily="34" charset="0"/>
              <a:ea typeface="Georgia" panose="02040502050405020303" pitchFamily="34" charset="-122"/>
              <a:cs typeface="Georgia" panose="02040502050405020303" pitchFamily="34" charset="-12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413248" y="1901952"/>
            <a:ext cx="1024128" cy="2743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D4CC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Non-profit, for-profit, hybrid — structures and trade-offs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565392" y="786384"/>
            <a:ext cx="1170432" cy="3977640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565392" y="786384"/>
            <a:ext cx="1170432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65392" y="786384"/>
            <a:ext cx="117043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1B69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638544" y="1225296"/>
            <a:ext cx="1024128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0392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Ethical Challenges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638544" y="1901952"/>
            <a:ext cx="1024128" cy="2743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D4CC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Six key tensions every social entrepreneur faces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790688" y="786384"/>
            <a:ext cx="1170432" cy="3977640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790688" y="786384"/>
            <a:ext cx="1170432" cy="34747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90688" y="786384"/>
            <a:ext cx="117043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1B69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07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863840" y="1225296"/>
            <a:ext cx="1024128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B8A6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Registering in Pakistan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7863840" y="1901952"/>
            <a:ext cx="1024128" cy="2743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D4CC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High-level overview of legal structures and registration pathways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503920" cy="4937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What is Social Entrepreneurship?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2D1B69">
              <a:alpha val="90000"/>
            </a:srgbClr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873752"/>
            <a:ext cx="8503920" cy="2697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D4CC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Social Entrepreneurship &amp; Civic Innovation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38912" y="768096"/>
            <a:ext cx="8321040" cy="749808"/>
          </a:xfrm>
          <a:prstGeom prst="rect">
            <a:avLst/>
          </a:prstGeom>
          <a:solidFill>
            <a:srgbClr val="2D1B69"/>
          </a:solidFill>
          <a:ln w="25400">
            <a:solidFill>
              <a:srgbClr val="E852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786384"/>
            <a:ext cx="8065008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755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Social Entrepreneurship </a:t>
            </a:r>
            <a:r>
              <a:rPr lang="en-US" sz="1200" dirty="0">
                <a:solidFill>
                  <a:srgbClr val="D4CC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is the practice of identifying persistent social, cultural, or environmental problems and creating sustainable, innovative solutions to address them — using entrepreneurial principles rather than relying purely on charity or government. The social entrepreneur's primary goal is </a:t>
            </a:r>
            <a:r>
              <a:rPr lang="en-US" sz="1200" b="1" dirty="0">
                <a:solidFill>
                  <a:srgbClr val="F7BC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lasting social change</a:t>
            </a:r>
            <a:r>
              <a:rPr lang="en-US" sz="1200" dirty="0">
                <a:solidFill>
                  <a:srgbClr val="D4CC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, while generating enough income to sustain and scale that change.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8912" y="1627632"/>
            <a:ext cx="4069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1B69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Core Characteristics of a Social Entrepreneur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912" y="1965960"/>
            <a:ext cx="4069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522A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8912" y="1965960"/>
            <a:ext cx="64008" cy="502920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002536"/>
            <a:ext cx="3822192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1B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Mission-first mindset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2212848"/>
            <a:ext cx="3822192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Social impact is the primary objective. Revenue is a means to achieve and sustain that mission — not the end goal itself.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38912" y="2532888"/>
            <a:ext cx="4069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522A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8912" y="2532888"/>
            <a:ext cx="64008" cy="502920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523744"/>
            <a:ext cx="3822192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1B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Sees problems as opportunities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2779776"/>
            <a:ext cx="3822192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Where others see a social problem, the social entrepreneur sees an unmet need and a chance to build a solution that is both needed and viable.</a:t>
            </a:r>
            <a:endParaRPr lang="en-US" sz="900" dirty="0">
              <a:solidFill>
                <a:srgbClr val="1A1035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38912" y="3099816"/>
            <a:ext cx="4069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522A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38912" y="3099816"/>
            <a:ext cx="64008" cy="502920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136392"/>
            <a:ext cx="3822192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1B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Innovative approach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" y="3346704"/>
            <a:ext cx="3822192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Applies new thinking, new models, or new technology — rather than simply replicating what charities or government already do.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38912" y="3666744"/>
            <a:ext cx="4069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522A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38912" y="3666744"/>
            <a:ext cx="64008" cy="502920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703320"/>
            <a:ext cx="3822192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1B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Accountability to beneficiaries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94360" y="3913632"/>
            <a:ext cx="3822192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Unlike traditional businesses accountable often only to shareholders, social enterprises are accountable to the communities they serve.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38912" y="4233672"/>
            <a:ext cx="4069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522A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38912" y="4233672"/>
            <a:ext cx="64008" cy="502920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4270248"/>
            <a:ext cx="3822192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1B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Measurable impact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94360" y="4480560"/>
            <a:ext cx="3822192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Tracks social outcomes (lives changed, behaviour shifted, access improved) alongside financial metrics like revenue and cost.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63440" y="1627632"/>
            <a:ext cx="4069080" cy="3127248"/>
          </a:xfrm>
          <a:prstGeom prst="rect">
            <a:avLst/>
          </a:prstGeom>
          <a:solidFill>
            <a:srgbClr val="3D2B85"/>
          </a:solidFill>
          <a:ln w="12700">
            <a:solidFill>
              <a:srgbClr val="4E3D9E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1627632"/>
            <a:ext cx="4069080" cy="384048"/>
          </a:xfrm>
          <a:prstGeom prst="rect">
            <a:avLst/>
          </a:prstGeom>
          <a:solidFill>
            <a:srgbClr val="4E3D9E"/>
          </a:solidFill>
          <a:ln w="12700">
            <a:solidFill>
              <a:srgbClr val="4E3D9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1627632"/>
            <a:ext cx="40690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Civic Innovation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773168" y="2066544"/>
            <a:ext cx="3858768" cy="5120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7BC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Civic innovation </a:t>
            </a:r>
            <a:r>
              <a:rPr lang="en-US" sz="1050" dirty="0">
                <a:solidFill>
                  <a:srgbClr val="D4CC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applies social entrepreneurship to governance and community life. It asks: how can citizens solve problems that government is too slow or under-resourced to address?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773168" y="2651760"/>
            <a:ext cx="3858768" cy="18288"/>
          </a:xfrm>
          <a:prstGeom prst="rect">
            <a:avLst/>
          </a:prstGeom>
          <a:solidFill>
            <a:srgbClr val="E8522A">
              <a:alpha val="50000"/>
            </a:srgbClr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73168" y="2697480"/>
            <a:ext cx="3858768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7BC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Examples: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773168" y="2926080"/>
            <a:ext cx="3858768" cy="17190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4CC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Community-run libraries or skill-sharing hubs in underserved areas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4CC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 platforms that help citizens report civic problems to local authorities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4CC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Social enterprises providing affordable solar energy to off-grid villages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4CC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Youth-led waste management co-operatives in urban areas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503920" cy="4937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Social Entrepreneurship vs. Charity, NGOs &amp; CSR: Key Differences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2D1B69">
              <a:alpha val="90000"/>
            </a:srgbClr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873752"/>
            <a:ext cx="8503920" cy="2697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D4CC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Social Entrepreneurship &amp; Civic Innovation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38912" y="768096"/>
            <a:ext cx="1417320" cy="384048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56232" y="768096"/>
            <a:ext cx="1810512" cy="384048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56232" y="768096"/>
            <a:ext cx="181051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Social Enterprise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66744" y="768096"/>
            <a:ext cx="1581912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66744" y="768096"/>
            <a:ext cx="158191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D1B69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Charity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248656" y="768096"/>
            <a:ext cx="1801368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48656" y="768096"/>
            <a:ext cx="180136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NGO / Non-Profit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050024" y="768096"/>
            <a:ext cx="1783080" cy="384048"/>
          </a:xfrm>
          <a:prstGeom prst="rect">
            <a:avLst/>
          </a:prstGeom>
          <a:solidFill>
            <a:srgbClr val="4E3D9E"/>
          </a:solidFill>
          <a:ln w="12700">
            <a:solidFill>
              <a:srgbClr val="4E3D9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50024" y="768096"/>
            <a:ext cx="17830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CSR Programme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8912" y="1152144"/>
            <a:ext cx="1417320" cy="649224"/>
          </a:xfrm>
          <a:prstGeom prst="rect">
            <a:avLst/>
          </a:prstGeom>
          <a:solidFill>
            <a:srgbClr val="2D1B69"/>
          </a:solidFill>
          <a:ln w="6350">
            <a:solidFill>
              <a:srgbClr val="3D2B8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064" y="1197864"/>
            <a:ext cx="1271016" cy="5577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7BC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Primary Goal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856232" y="1152144"/>
            <a:ext cx="1810512" cy="6492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29384" y="1188720"/>
            <a:ext cx="1664208" cy="5760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 sustainable social impact through a self-funding model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66744" y="1152144"/>
            <a:ext cx="1581912" cy="6492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39896" y="1188720"/>
            <a:ext cx="1435608" cy="5760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Relieve immediate suffering or need through giving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248656" y="1152144"/>
            <a:ext cx="1801368" cy="6492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21808" y="1188720"/>
            <a:ext cx="1655064" cy="5760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Advocate for a cause or deliver services to a community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050024" y="1152144"/>
            <a:ext cx="1783080" cy="6492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23176" y="1188720"/>
            <a:ext cx="1636776" cy="5760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Enhance a company's reputation and meet social obligations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38912" y="1801368"/>
            <a:ext cx="1417320" cy="649224"/>
          </a:xfrm>
          <a:prstGeom prst="rect">
            <a:avLst/>
          </a:prstGeom>
          <a:solidFill>
            <a:srgbClr val="2D1B69"/>
          </a:solidFill>
          <a:ln w="6350">
            <a:solidFill>
              <a:srgbClr val="3D2B8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" y="1847088"/>
            <a:ext cx="1271016" cy="5577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7BC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Funding Model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56232" y="1801368"/>
            <a:ext cx="1810512" cy="649224"/>
          </a:xfrm>
          <a:prstGeom prst="rect">
            <a:avLst/>
          </a:prstGeom>
          <a:solidFill>
            <a:srgbClr val="F0ECE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29384" y="1837944"/>
            <a:ext cx="1664208" cy="5760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Earns its own revenue through products, services, or social contracts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666744" y="1801368"/>
            <a:ext cx="1581912" cy="649224"/>
          </a:xfrm>
          <a:prstGeom prst="rect">
            <a:avLst/>
          </a:prstGeom>
          <a:solidFill>
            <a:srgbClr val="F0ECE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39896" y="1837944"/>
            <a:ext cx="1435608" cy="5760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Donations, grants, fundraising — external and one-time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248656" y="1801368"/>
            <a:ext cx="1801368" cy="649224"/>
          </a:xfrm>
          <a:prstGeom prst="rect">
            <a:avLst/>
          </a:prstGeom>
          <a:solidFill>
            <a:srgbClr val="F0ECE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21808" y="1837944"/>
            <a:ext cx="1655064" cy="5760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Grants, memberships, donations — largely donor-dependent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050024" y="1801368"/>
            <a:ext cx="1783080" cy="649224"/>
          </a:xfrm>
          <a:prstGeom prst="rect">
            <a:avLst/>
          </a:prstGeom>
          <a:solidFill>
            <a:srgbClr val="F0ECE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23176" y="1837944"/>
            <a:ext cx="1636776" cy="5760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Funded by a parent corporation; not independent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38912" y="2450592"/>
            <a:ext cx="1417320" cy="649224"/>
          </a:xfrm>
          <a:prstGeom prst="rect">
            <a:avLst/>
          </a:prstGeom>
          <a:solidFill>
            <a:srgbClr val="2D1B69"/>
          </a:solidFill>
          <a:ln w="6350">
            <a:solidFill>
              <a:srgbClr val="3D2B8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2064" y="2496312"/>
            <a:ext cx="1271016" cy="5577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7BC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Profit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56232" y="2450592"/>
            <a:ext cx="1810512" cy="6492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929384" y="2487168"/>
            <a:ext cx="1664208" cy="5760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May generate profit — reinvested into the mission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666744" y="2450592"/>
            <a:ext cx="1581912" cy="6492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739896" y="2487168"/>
            <a:ext cx="1435608" cy="5760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profit generated; all income goes to operations/programmes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248656" y="2450592"/>
            <a:ext cx="1801368" cy="6492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21808" y="2487168"/>
            <a:ext cx="1655064" cy="5760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Surplus reinvested; distributing profit to owners is restricted or banned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050024" y="2450592"/>
            <a:ext cx="1783080" cy="6492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123176" y="2487168"/>
            <a:ext cx="1636776" cy="5760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separate profit — costs absorbed by parent company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38912" y="3099816"/>
            <a:ext cx="1417320" cy="649224"/>
          </a:xfrm>
          <a:prstGeom prst="rect">
            <a:avLst/>
          </a:prstGeom>
          <a:solidFill>
            <a:srgbClr val="2D1B69"/>
          </a:solidFill>
          <a:ln w="6350">
            <a:solidFill>
              <a:srgbClr val="3D2B8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12064" y="3145536"/>
            <a:ext cx="1271016" cy="5577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7BC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Sustainability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1856232" y="3099816"/>
            <a:ext cx="1810512" cy="649224"/>
          </a:xfrm>
          <a:prstGeom prst="rect">
            <a:avLst/>
          </a:prstGeom>
          <a:solidFill>
            <a:srgbClr val="F0ECE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929384" y="3136392"/>
            <a:ext cx="1664208" cy="5760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Designed to be self-sustaining without ongoing donations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666744" y="3099816"/>
            <a:ext cx="1581912" cy="649224"/>
          </a:xfrm>
          <a:prstGeom prst="rect">
            <a:avLst/>
          </a:prstGeom>
          <a:solidFill>
            <a:srgbClr val="F0ECE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739896" y="3136392"/>
            <a:ext cx="1435608" cy="5760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Relies on continued donor generosity — can disappear if funding stops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248656" y="3099816"/>
            <a:ext cx="1801368" cy="649224"/>
          </a:xfrm>
          <a:prstGeom prst="rect">
            <a:avLst/>
          </a:prstGeom>
          <a:solidFill>
            <a:srgbClr val="F0ECE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321808" y="3136392"/>
            <a:ext cx="1655064" cy="5760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Long-term but dependent on external funding cycles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7050024" y="3099816"/>
            <a:ext cx="1783080" cy="649224"/>
          </a:xfrm>
          <a:prstGeom prst="rect">
            <a:avLst/>
          </a:prstGeom>
          <a:solidFill>
            <a:srgbClr val="F0ECE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123176" y="3136392"/>
            <a:ext cx="1636776" cy="5760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Continues as long as parent company chooses to fund it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38912" y="3749040"/>
            <a:ext cx="1417320" cy="649224"/>
          </a:xfrm>
          <a:prstGeom prst="rect">
            <a:avLst/>
          </a:prstGeom>
          <a:solidFill>
            <a:srgbClr val="2D1B69"/>
          </a:solidFill>
          <a:ln w="6350">
            <a:solidFill>
              <a:srgbClr val="3D2B8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12064" y="3794760"/>
            <a:ext cx="1271016" cy="5577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7BC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Accountability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1856232" y="3749040"/>
            <a:ext cx="1810512" cy="6492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929384" y="3785616"/>
            <a:ext cx="1664208" cy="5760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 beneficiaries, investors/donors, and regulators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3666744" y="3749040"/>
            <a:ext cx="1581912" cy="6492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739896" y="3785616"/>
            <a:ext cx="1435608" cy="5760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 donors and beneficiaries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5248656" y="3749040"/>
            <a:ext cx="1801368" cy="6492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321808" y="3785616"/>
            <a:ext cx="1655064" cy="5760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 donors, members, and beneficiaries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7050024" y="3749040"/>
            <a:ext cx="1783080" cy="6492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123176" y="3785616"/>
            <a:ext cx="1636776" cy="5760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 parent company shareholders and brand image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438912" y="4398264"/>
            <a:ext cx="1417320" cy="649224"/>
          </a:xfrm>
          <a:prstGeom prst="rect">
            <a:avLst/>
          </a:prstGeom>
          <a:solidFill>
            <a:srgbClr val="2D1B69"/>
          </a:solidFill>
          <a:ln w="6350">
            <a:solidFill>
              <a:srgbClr val="3D2B8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12064" y="4443984"/>
            <a:ext cx="1271016" cy="5577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7BC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Scale Potential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1856232" y="4398264"/>
            <a:ext cx="1810512" cy="649224"/>
          </a:xfrm>
          <a:prstGeom prst="rect">
            <a:avLst/>
          </a:prstGeom>
          <a:solidFill>
            <a:srgbClr val="F0ECE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929384" y="4434840"/>
            <a:ext cx="1664208" cy="5760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 — can scale like a business through reinvestment and growth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3666744" y="4398264"/>
            <a:ext cx="1581912" cy="649224"/>
          </a:xfrm>
          <a:prstGeom prst="rect">
            <a:avLst/>
          </a:prstGeom>
          <a:solidFill>
            <a:srgbClr val="F0ECE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739896" y="4434840"/>
            <a:ext cx="1435608" cy="5760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Limited by donation levels and volunteer capacity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5248656" y="4398264"/>
            <a:ext cx="1801368" cy="649224"/>
          </a:xfrm>
          <a:prstGeom prst="rect">
            <a:avLst/>
          </a:prstGeom>
          <a:solidFill>
            <a:srgbClr val="F0ECE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321808" y="4434840"/>
            <a:ext cx="1655064" cy="5760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Moderate — constrained by grant cycles and donor priorities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7050024" y="4398264"/>
            <a:ext cx="1783080" cy="649224"/>
          </a:xfrm>
          <a:prstGeom prst="rect">
            <a:avLst/>
          </a:prstGeom>
          <a:solidFill>
            <a:srgbClr val="F0ECE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123176" y="4434840"/>
            <a:ext cx="1636776" cy="5760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Limited by corporate budget decisions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503920" cy="4937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Social Problems as Opportunities for Sustainable Solutions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2D1B69">
              <a:alpha val="90000"/>
            </a:srgbClr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873752"/>
            <a:ext cx="8503920" cy="2697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D4CC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Social Entrepreneurship &amp; Civic Innovation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38912" y="768096"/>
            <a:ext cx="8321040" cy="548640"/>
          </a:xfrm>
          <a:prstGeom prst="rect">
            <a:avLst/>
          </a:prstGeom>
          <a:solidFill>
            <a:srgbClr val="2D1B69"/>
          </a:solidFill>
          <a:ln w="19050">
            <a:solidFill>
              <a:srgbClr val="E852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786384"/>
            <a:ext cx="806500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75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reframe: </a:t>
            </a:r>
            <a:r>
              <a:rPr lang="en-US" sz="1150" dirty="0">
                <a:solidFill>
                  <a:srgbClr val="D4CC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social problem is evidence of an unmet need at scale. Where there is an unmet need, there is a potential market and a potential source of sustained social change. Social entrepreneurs ask: 'Who suffers from this? What do they need? And how could we build something that reliably delivers that?'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8912" y="1426464"/>
            <a:ext cx="4114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1B69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The Problem-to-Opportunity Reframe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912" y="1755648"/>
            <a:ext cx="4114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522A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8912" y="1755648"/>
            <a:ext cx="384048" cy="548640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1755648"/>
            <a:ext cx="384048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96112" y="1792224"/>
            <a:ext cx="3529584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1B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Name the Problem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96112" y="2002536"/>
            <a:ext cx="352958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Who is affected? How many people? How severely? What are the consequences of it remaining unsolved?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38912" y="2368296"/>
            <a:ext cx="4114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522A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8912" y="2368296"/>
            <a:ext cx="384048" cy="548640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2368296"/>
            <a:ext cx="384048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96112" y="2404872"/>
            <a:ext cx="3529584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1B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Understand Root Causes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96112" y="2615184"/>
            <a:ext cx="352958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the 5 Whys or similar tools to get past symptoms and understand why the problem persists structurally.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38912" y="2980944"/>
            <a:ext cx="4114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522A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38912" y="2980944"/>
            <a:ext cx="384048" cy="548640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2980944"/>
            <a:ext cx="384048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96112" y="3017520"/>
            <a:ext cx="3529584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1B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Identify the Gap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96112" y="3227832"/>
            <a:ext cx="352958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solution currently exists — and why is it insufficient, inaccessible, unaffordable, or unsustainable?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38912" y="3593592"/>
            <a:ext cx="4114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522A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38912" y="3593592"/>
            <a:ext cx="384048" cy="548640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" y="3593592"/>
            <a:ext cx="384048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96112" y="3630168"/>
            <a:ext cx="3529584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1B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Ask: Who Benefits?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96112" y="3840480"/>
            <a:ext cx="352958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Who would pay, partner, or donate to see this problem solved? This reveals your potential revenue or funding sources.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38912" y="4206240"/>
            <a:ext cx="4114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522A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38912" y="4206240"/>
            <a:ext cx="384048" cy="548640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8912" y="4206240"/>
            <a:ext cx="384048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96112" y="4242816"/>
            <a:ext cx="3529584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1B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Prototype a Solution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96112" y="4453128"/>
            <a:ext cx="352958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Design a minimum viable solution — small, fast, and testable — that addresses the core gap without waiting for perfection.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09160" y="1426464"/>
            <a:ext cx="4023360" cy="3364992"/>
          </a:xfrm>
          <a:prstGeom prst="rect">
            <a:avLst/>
          </a:prstGeom>
          <a:solidFill>
            <a:srgbClr val="3D2B85"/>
          </a:solidFill>
          <a:ln w="12700">
            <a:solidFill>
              <a:srgbClr val="4E3D9E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09160" y="1426464"/>
            <a:ext cx="402336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09160" y="1426464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Real Examples: Problems Become Enterprises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828032" y="1865376"/>
            <a:ext cx="3785616" cy="621792"/>
          </a:xfrm>
          <a:prstGeom prst="rect">
            <a:avLst/>
          </a:prstGeom>
          <a:solidFill>
            <a:srgbClr val="2D1B69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19472" y="1892808"/>
            <a:ext cx="3621024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75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Problem: </a:t>
            </a:r>
            <a:r>
              <a:rPr lang="en-US" sz="900" dirty="0">
                <a:solidFill>
                  <a:srgbClr val="D4CC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Rural illiteracy &amp; no local schools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919472" y="2157984"/>
            <a:ext cx="3621024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Solution: </a:t>
            </a:r>
            <a:r>
              <a:rPr lang="en-US" sz="900" dirty="0">
                <a:solidFill>
                  <a:srgbClr val="D4CC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Teach For Pakistan places graduates in under-resourced communities — building local capacity rather than donating textbooks.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828032" y="2569464"/>
            <a:ext cx="3785616" cy="621792"/>
          </a:xfrm>
          <a:prstGeom prst="rect">
            <a:avLst/>
          </a:prstGeom>
          <a:solidFill>
            <a:srgbClr val="2D1B69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19472" y="2596896"/>
            <a:ext cx="3621024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75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Problem: </a:t>
            </a:r>
            <a:r>
              <a:rPr lang="en-US" sz="900" dirty="0">
                <a:solidFill>
                  <a:srgbClr val="D4CC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Unaffordable healthcare in low-income areas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919472" y="2862072"/>
            <a:ext cx="3621024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Solution: </a:t>
            </a:r>
            <a:r>
              <a:rPr lang="en-US" sz="900" dirty="0">
                <a:solidFill>
                  <a:srgbClr val="D4CC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Sehat Kahani connects women doctors to patients via teleconsultation — cutting costs while utilising unemployed female physicians.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828032" y="3273552"/>
            <a:ext cx="3785616" cy="621792"/>
          </a:xfrm>
          <a:prstGeom prst="rect">
            <a:avLst/>
          </a:prstGeom>
          <a:solidFill>
            <a:srgbClr val="2D1B69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19472" y="3300984"/>
            <a:ext cx="3621024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75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Problem: </a:t>
            </a:r>
            <a:r>
              <a:rPr lang="en-US" sz="900" dirty="0">
                <a:solidFill>
                  <a:srgbClr val="D4CC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Urban waste accumulating with no collection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919472" y="3566160"/>
            <a:ext cx="3621024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Solution: </a:t>
            </a:r>
            <a:r>
              <a:rPr lang="en-US" sz="900" dirty="0">
                <a:solidFill>
                  <a:srgbClr val="D4CC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RecycleX buys recyclables from informal waste pickers in Karachi — generating income and cleaner cities simultaneously.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828032" y="3977640"/>
            <a:ext cx="3785616" cy="621792"/>
          </a:xfrm>
          <a:prstGeom prst="rect">
            <a:avLst/>
          </a:prstGeom>
          <a:solidFill>
            <a:srgbClr val="2D1B69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19472" y="4005072"/>
            <a:ext cx="3621024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75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Problem: </a:t>
            </a:r>
            <a:r>
              <a:rPr lang="en-US" sz="900" dirty="0">
                <a:solidFill>
                  <a:srgbClr val="D4CC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Women excluded from formal financial services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919472" y="4270248"/>
            <a:ext cx="3621024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Solution: </a:t>
            </a:r>
            <a:r>
              <a:rPr lang="en-US" sz="900" dirty="0">
                <a:solidFill>
                  <a:srgbClr val="D4CC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Akhuwat provides interest-free loans to low-income entrepreneurs using a community solidarity model.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503920" cy="4937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Balancing Social Impact &amp; Financial Sustainability: The Dual Bottom Line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2D1B69">
              <a:alpha val="90000"/>
            </a:srgbClr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873752"/>
            <a:ext cx="8503920" cy="2697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D4CC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Social Entrepreneurship &amp; Civic Innovation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38912" y="768096"/>
            <a:ext cx="8321040" cy="512064"/>
          </a:xfrm>
          <a:prstGeom prst="rect">
            <a:avLst/>
          </a:prstGeom>
          <a:solidFill>
            <a:srgbClr val="2D1B69"/>
          </a:solidFill>
          <a:ln w="19050">
            <a:solidFill>
              <a:srgbClr val="E852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786384"/>
            <a:ext cx="8065008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4CC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Traditional businesses have one bottom line: profit. Social enterprises have two: social impact AND financial sustainability. Neglecting either one leads to failure — an organisation that runs out of money cannot serve anyone, and one that abandons its mission has no reason to exist.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912" y="1389888"/>
            <a:ext cx="4069080" cy="3337560"/>
          </a:xfrm>
          <a:prstGeom prst="rect">
            <a:avLst/>
          </a:prstGeom>
          <a:solidFill>
            <a:srgbClr val="FFFFFF"/>
          </a:solidFill>
          <a:ln w="25400">
            <a:solidFill>
              <a:srgbClr val="E852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" y="1389888"/>
            <a:ext cx="4069080" cy="402336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1389888"/>
            <a:ext cx="406908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Social Impact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66928" y="1847088"/>
            <a:ext cx="3813048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52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it means: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" y="2048256"/>
            <a:ext cx="3813048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Social impact refers to the measurable change in community wellbeing, equity, opportunity, or environmental health that results directly from the enterprise's activities.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6928" y="2670048"/>
            <a:ext cx="3813048" cy="18288"/>
          </a:xfrm>
          <a:prstGeom prst="rect">
            <a:avLst/>
          </a:prstGeom>
          <a:solidFill>
            <a:srgbClr val="E8522A">
              <a:alpha val="45000"/>
            </a:srgbClr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715768"/>
            <a:ext cx="3813048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52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it is measured: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6928" y="2926080"/>
            <a:ext cx="3813048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Number of people whose situation improved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Depth of change (small shift vs. transformational change)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Reach: local, regional, or national scale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Sustainability: does change persist after the intervention ends?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Attribution: can we prove the enterprise caused this change?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66928" y="3822192"/>
            <a:ext cx="3813048" cy="18288"/>
          </a:xfrm>
          <a:prstGeom prst="rect">
            <a:avLst/>
          </a:prstGeom>
          <a:solidFill>
            <a:srgbClr val="C0392B">
              <a:alpha val="40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858768"/>
            <a:ext cx="3813048" cy="8046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 Risk if ignored: </a:t>
            </a:r>
            <a:r>
              <a:rPr lang="en-US" sz="950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Too much focus on impact without financial discipline = the organisation runs out of money and disappears. Passion is not a substitute for a viable revenue model.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45152" y="1389888"/>
            <a:ext cx="4069080" cy="333756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45152" y="1389888"/>
            <a:ext cx="4069080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45152" y="1389888"/>
            <a:ext cx="406908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Financial Sustainability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773168" y="1847088"/>
            <a:ext cx="3813048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it means: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73168" y="2048256"/>
            <a:ext cx="3813048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Financial sustainability means the enterprise consistently generates enough income — through sales, fees, grants, or a mix — to cover its costs and invest in growth, without relying on one-time or unreliable funding sources.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73168" y="2670048"/>
            <a:ext cx="3813048" cy="18288"/>
          </a:xfrm>
          <a:prstGeom prst="rect">
            <a:avLst/>
          </a:prstGeom>
          <a:solidFill>
            <a:srgbClr val="0D9488">
              <a:alpha val="4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73168" y="2715768"/>
            <a:ext cx="3813048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it is measured: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73168" y="2926080"/>
            <a:ext cx="3813048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Revenue covers operating costs (break-even minimum)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Surplus is generated and reinvested in mission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Diverse income streams reduce dependency on any single source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Working capital is sufficient to weather short-term gaps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financial model can scale as the social mission grows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73168" y="3822192"/>
            <a:ext cx="3813048" cy="18288"/>
          </a:xfrm>
          <a:prstGeom prst="rect">
            <a:avLst/>
          </a:prstGeom>
          <a:solidFill>
            <a:srgbClr val="C0392B">
              <a:alpha val="40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73168" y="3858768"/>
            <a:ext cx="3813048" cy="8046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 Risk if ignored: </a:t>
            </a:r>
            <a:r>
              <a:rPr lang="en-US" sz="950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Too much focus on money without mission discipline = the enterprise 'mission drifts' — it starts serving paying customers rather than the people it was built to serve.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503920" cy="4937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Social Enterprise Models: The Non-Profit Structure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2D1B69">
              <a:alpha val="90000"/>
            </a:srgbClr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873752"/>
            <a:ext cx="8503920" cy="2697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D4CC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Social Entrepreneurship &amp; Civic Innovation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38912" y="768096"/>
            <a:ext cx="8321040" cy="457200"/>
          </a:xfrm>
          <a:prstGeom prst="rect">
            <a:avLst/>
          </a:prstGeom>
          <a:solidFill>
            <a:srgbClr val="2D1B69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786384"/>
            <a:ext cx="806500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CC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Social enterprises can take three broad structural forms: non-profit, for-profit, and hybrid. Each has distinct legal, financial, and mission implications. Understanding which model fits your context is one of the first strategic decisions an entrepreneur must make.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8912" y="1316736"/>
            <a:ext cx="83210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Model 1: Non-Profit Social Enterprise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8912" y="1700784"/>
            <a:ext cx="4069080" cy="3054096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8912" y="1700784"/>
            <a:ext cx="406908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1700784"/>
            <a:ext cx="4069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What It Is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6928" y="2103120"/>
            <a:ext cx="3822192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non-profit social enterprise is a legally registered organisation that uses commercial activities to generate revenue — but is prohibited (or chooses) not to distribute profits to owners or shareholders. All surplus is reinvested into the social mission.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66928" y="2798064"/>
            <a:ext cx="3822192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Funding sources: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6928" y="2999232"/>
            <a:ext cx="382219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Programme fees · Grant income · Donations · Membership subscriptions · Government contracts · Social enterprise revenue from products/services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66928" y="3493008"/>
            <a:ext cx="3822192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Pakistan examples: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66928" y="3694176"/>
            <a:ext cx="382219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Akhuwat Foundation · The Citizens Foundation (TCF) · Edhi Foundation · Teach For Pakistan · Naya Jeevan Health Insurance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66928" y="4187952"/>
            <a:ext cx="382219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A6F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Registered under: Section 42 Companies Act 2017 (Pakistan) or as a Trust/Society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63440" y="1700784"/>
            <a:ext cx="4069080" cy="3054096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1700784"/>
            <a:ext cx="4069080" cy="3657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1700784"/>
            <a:ext cx="4069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1B69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Advantages &amp; Limitations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91456" y="2121408"/>
            <a:ext cx="3822192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Advantages: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91456" y="2322576"/>
            <a:ext cx="3822192" cy="10789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Tax-exempt status reduces operational costs and increases donor appeal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Eligible for grants and government contracts not available to for-profits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Strong public trust — donors, communities, and governments prefer non-profit structures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Mission protection built into legal structure — profit cannot distract from purpose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91456" y="3429000"/>
            <a:ext cx="3822192" cy="18288"/>
          </a:xfrm>
          <a:prstGeom prst="rect">
            <a:avLst/>
          </a:prstGeom>
          <a:solidFill>
            <a:srgbClr val="C0392B">
              <a:alpha val="40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91456" y="3474720"/>
            <a:ext cx="3822192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Limitations: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91456" y="3675888"/>
            <a:ext cx="3822192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Cannot raise equity capital from investors — limits growth speed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Heavy dependence on grants can create unstable, short-term planning horizons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Governance and reporting requirements can be administratively burdensome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Attracting top talent is difficult when salaries are capped by donor expectations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503920" cy="4937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Social Enterprise Models: For-Profit &amp; Hybrid Structures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2D1B69">
              <a:alpha val="90000"/>
            </a:srgbClr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873752"/>
            <a:ext cx="8503920" cy="2697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D4CC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Social Entrepreneurship &amp; Civic Innovation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38912" y="768096"/>
            <a:ext cx="8321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522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Model 2: For-Profit Social Enterprise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8912" y="1097280"/>
            <a:ext cx="4069080" cy="1783080"/>
          </a:xfrm>
          <a:prstGeom prst="rect">
            <a:avLst/>
          </a:prstGeom>
          <a:solidFill>
            <a:srgbClr val="FFFFFF"/>
          </a:solidFill>
          <a:ln w="25400">
            <a:solidFill>
              <a:srgbClr val="E8522A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8912" y="1097280"/>
            <a:ext cx="4069080" cy="329184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097280"/>
            <a:ext cx="40690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What It Is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66928" y="1463040"/>
            <a:ext cx="3822192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for-profit social enterprise is a standard private company (sole trader, partnership, or limited company) whose core business model is designed around solving a social problem. Investors receive financial returns, but the enterprise's products or services inherently create social value.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" y="2139696"/>
            <a:ext cx="3822192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52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Examples: </a:t>
            </a:r>
            <a:r>
              <a:rPr lang="en-US" sz="950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Grameen Bank (Bangladesh) · Sehat Kahani (Pakistan teleconsultation) · D.light solar lamps (off-grid rural customers)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63440" y="1097280"/>
            <a:ext cx="4069080" cy="1783080"/>
          </a:xfrm>
          <a:prstGeom prst="rect">
            <a:avLst/>
          </a:prstGeom>
          <a:solidFill>
            <a:srgbClr val="FFFFFF"/>
          </a:solidFill>
          <a:ln w="25400">
            <a:solidFill>
              <a:srgbClr val="E8522A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097280"/>
            <a:ext cx="4069080" cy="329184"/>
          </a:xfrm>
          <a:prstGeom prst="rect">
            <a:avLst/>
          </a:prstGeom>
          <a:solidFill>
            <a:srgbClr val="F07550"/>
          </a:solidFill>
          <a:ln w="12700">
            <a:solidFill>
              <a:srgbClr val="F075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1097280"/>
            <a:ext cx="40690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Advantages &amp; Limitations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91456" y="1463040"/>
            <a:ext cx="382219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  </a:t>
            </a:r>
            <a:r>
              <a:rPr lang="en-US" sz="950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 raise equity investment and scale rapidly using business growth strategies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91456" y="1737360"/>
            <a:ext cx="382219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  </a:t>
            </a:r>
            <a:r>
              <a:rPr lang="en-US" sz="950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donor dependence — revenue from customers sustains the mission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91456" y="2011680"/>
            <a:ext cx="382219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  </a:t>
            </a:r>
            <a:r>
              <a:rPr lang="en-US" sz="950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Easier to attract skilled talent with market-rate salaries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91456" y="2286000"/>
            <a:ext cx="382219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✘  </a:t>
            </a:r>
            <a:r>
              <a:rPr lang="en-US" sz="950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Investor pressure can lead to mission drift if financial returns are prioritised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91456" y="2560320"/>
            <a:ext cx="382219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✘  </a:t>
            </a:r>
            <a:r>
              <a:rPr lang="en-US" sz="950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tax exemptions or eligibility for grants available to non-profits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8912" y="2980944"/>
            <a:ext cx="8321040" cy="32918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2980944"/>
            <a:ext cx="82296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1B69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Model 3: Hybrid Social Enterprise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38912" y="3383280"/>
            <a:ext cx="406908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4E3D9E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38912" y="3383280"/>
            <a:ext cx="73152" cy="731520"/>
          </a:xfrm>
          <a:prstGeom prst="rect">
            <a:avLst/>
          </a:prstGeom>
          <a:solidFill>
            <a:srgbClr val="4E3D9E"/>
          </a:solidFill>
          <a:ln w="12700">
            <a:solidFill>
              <a:srgbClr val="4E3D9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3504" y="3419856"/>
            <a:ext cx="3785616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3D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Cross-subsidy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03504" y="3657600"/>
            <a:ext cx="3785616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profitable product or service line funds a subsidised or free service for low-income beneficiaries. Example: a private clinic charges full-fee patients to subsidise free clinics for the poor.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63440" y="3383280"/>
            <a:ext cx="406908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3383280"/>
            <a:ext cx="73152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28032" y="3419856"/>
            <a:ext cx="3785616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Earned income non-profit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28032" y="3657600"/>
            <a:ext cx="3785616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non-profit sells products or services to generate revenue, which funds its charitable programmes. Example: a disability charity runs a catering business to fund its training programmes.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38912" y="4187952"/>
            <a:ext cx="406908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E8522A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38912" y="4187952"/>
            <a:ext cx="73152" cy="731520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3504" y="4224528"/>
            <a:ext cx="3785616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52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Co-operative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03504" y="4462272"/>
            <a:ext cx="3785616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Owned and democratically controlled by its members — workers, customers, or community. Profits distributed among members. Example: Dairy farmer co-ops that pay fair prices and share surpluses.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63440" y="4187952"/>
            <a:ext cx="406908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F5A623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63440" y="4187952"/>
            <a:ext cx="73152" cy="7315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28032" y="4224528"/>
            <a:ext cx="3785616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Social franchise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828032" y="4462272"/>
            <a:ext cx="3785616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proven social enterprise model is replicated by licensed partners in new locations — like a franchise but for impact. Example: Akhuwat's microfinance model replicated across Pakistan.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503920" cy="4937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Choosing a Model: At-a-Glance Comparison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2D1B69">
              <a:alpha val="90000"/>
            </a:srgbClr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873752"/>
            <a:ext cx="8503920" cy="2697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D4CC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Social Entrepreneurship &amp; Civic Innovation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38912" y="768096"/>
            <a:ext cx="1572768" cy="384048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0" y="768096"/>
            <a:ext cx="24231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0" y="768096"/>
            <a:ext cx="24231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Non-Profit SE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34840" y="768096"/>
            <a:ext cx="2331720" cy="384048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34840" y="768096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For-Profit SE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766560" y="768096"/>
            <a:ext cx="2423160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0" y="768096"/>
            <a:ext cx="24231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D1B69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Hybrid SE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38912" y="1152144"/>
            <a:ext cx="1572768" cy="621792"/>
          </a:xfrm>
          <a:prstGeom prst="rect">
            <a:avLst/>
          </a:prstGeom>
          <a:solidFill>
            <a:srgbClr val="2D1B69"/>
          </a:solidFill>
          <a:ln w="6350">
            <a:solidFill>
              <a:srgbClr val="3D2B8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" y="1207008"/>
            <a:ext cx="1426464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7BC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Profit distribution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1152144"/>
            <a:ext cx="24231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84832" y="1188720"/>
            <a:ext cx="2276856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 permitted — all surplus reinvested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434840" y="1152144"/>
            <a:ext cx="23317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07992" y="1188720"/>
            <a:ext cx="2185416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Permitted — investors receive returns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766560" y="1152144"/>
            <a:ext cx="24231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39712" y="1188720"/>
            <a:ext cx="2276856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Partial — depends on hybrid structure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38912" y="1773936"/>
            <a:ext cx="1572768" cy="621792"/>
          </a:xfrm>
          <a:prstGeom prst="rect">
            <a:avLst/>
          </a:prstGeom>
          <a:solidFill>
            <a:srgbClr val="2D1B69"/>
          </a:solidFill>
          <a:ln w="6350">
            <a:solidFill>
              <a:srgbClr val="3D2B8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" y="1828800"/>
            <a:ext cx="1426464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7BC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Capital raising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011680" y="1773936"/>
            <a:ext cx="2423160" cy="621792"/>
          </a:xfrm>
          <a:prstGeom prst="rect">
            <a:avLst/>
          </a:prstGeom>
          <a:solidFill>
            <a:srgbClr val="F0ECE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84832" y="1810512"/>
            <a:ext cx="2276856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Grants, donations, government contracts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434840" y="1773936"/>
            <a:ext cx="2331720" cy="621792"/>
          </a:xfrm>
          <a:prstGeom prst="rect">
            <a:avLst/>
          </a:prstGeom>
          <a:solidFill>
            <a:srgbClr val="F0ECE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07992" y="1810512"/>
            <a:ext cx="2185416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Equity investment, commercial loans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766560" y="1773936"/>
            <a:ext cx="2423160" cy="621792"/>
          </a:xfrm>
          <a:prstGeom prst="rect">
            <a:avLst/>
          </a:prstGeom>
          <a:solidFill>
            <a:srgbClr val="F0ECE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39712" y="1810512"/>
            <a:ext cx="2276856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Mix of grants, investment, and revenue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38912" y="2395728"/>
            <a:ext cx="1572768" cy="621792"/>
          </a:xfrm>
          <a:prstGeom prst="rect">
            <a:avLst/>
          </a:prstGeom>
          <a:solidFill>
            <a:srgbClr val="2D1B69"/>
          </a:solidFill>
          <a:ln w="6350">
            <a:solidFill>
              <a:srgbClr val="3D2B8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2064" y="2450592"/>
            <a:ext cx="1426464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7BC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Tax status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011680" y="2395728"/>
            <a:ext cx="24231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084832" y="2432304"/>
            <a:ext cx="2276856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Tax-exempt in most jurisdictions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434840" y="2395728"/>
            <a:ext cx="23317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07992" y="2432304"/>
            <a:ext cx="2185416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Standard business taxation applies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766560" y="2395728"/>
            <a:ext cx="24231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39712" y="2432304"/>
            <a:ext cx="2276856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Varies by structure and jurisdiction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38912" y="3017520"/>
            <a:ext cx="1572768" cy="621792"/>
          </a:xfrm>
          <a:prstGeom prst="rect">
            <a:avLst/>
          </a:prstGeom>
          <a:solidFill>
            <a:srgbClr val="2D1B69"/>
          </a:solidFill>
          <a:ln w="6350">
            <a:solidFill>
              <a:srgbClr val="3D2B8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2064" y="3072384"/>
            <a:ext cx="1426464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7BC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Mission protection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011680" y="3017520"/>
            <a:ext cx="2423160" cy="621792"/>
          </a:xfrm>
          <a:prstGeom prst="rect">
            <a:avLst/>
          </a:prstGeom>
          <a:solidFill>
            <a:srgbClr val="F0ECE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084832" y="3054096"/>
            <a:ext cx="2276856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Strong — legally mandated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434840" y="3017520"/>
            <a:ext cx="2331720" cy="621792"/>
          </a:xfrm>
          <a:prstGeom prst="rect">
            <a:avLst/>
          </a:prstGeom>
          <a:solidFill>
            <a:srgbClr val="F0ECE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07992" y="3054096"/>
            <a:ext cx="2185416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Weaker — depends on founder/investor alignment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766560" y="3017520"/>
            <a:ext cx="2423160" cy="621792"/>
          </a:xfrm>
          <a:prstGeom prst="rect">
            <a:avLst/>
          </a:prstGeom>
          <a:solidFill>
            <a:srgbClr val="F0ECE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39712" y="3054096"/>
            <a:ext cx="2276856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Moderate — depends on legal design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38912" y="3639312"/>
            <a:ext cx="1572768" cy="621792"/>
          </a:xfrm>
          <a:prstGeom prst="rect">
            <a:avLst/>
          </a:prstGeom>
          <a:solidFill>
            <a:srgbClr val="2D1B69"/>
          </a:solidFill>
          <a:ln w="6350">
            <a:solidFill>
              <a:srgbClr val="3D2B8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12064" y="3694176"/>
            <a:ext cx="1426464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7BC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Growth speed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011680" y="3639312"/>
            <a:ext cx="24231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084832" y="3675888"/>
            <a:ext cx="2276856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Slower — limited by grant cycles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434840" y="3639312"/>
            <a:ext cx="23317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07992" y="3675888"/>
            <a:ext cx="2185416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Faster — can leverage investment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766560" y="3639312"/>
            <a:ext cx="24231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39712" y="3675888"/>
            <a:ext cx="2276856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Moderate — depends on chosen model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38912" y="4261104"/>
            <a:ext cx="1572768" cy="621792"/>
          </a:xfrm>
          <a:prstGeom prst="rect">
            <a:avLst/>
          </a:prstGeom>
          <a:solidFill>
            <a:srgbClr val="2D1B69"/>
          </a:solidFill>
          <a:ln w="6350">
            <a:solidFill>
              <a:srgbClr val="3D2B8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12064" y="4315968"/>
            <a:ext cx="1426464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7BC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Best suited when...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2011680" y="4261104"/>
            <a:ext cx="2423160" cy="621792"/>
          </a:xfrm>
          <a:prstGeom prst="rect">
            <a:avLst/>
          </a:prstGeom>
          <a:solidFill>
            <a:srgbClr val="F0ECE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084832" y="4297680"/>
            <a:ext cx="2276856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Community trust is critical; project needs grants; no viable paying market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434840" y="4261104"/>
            <a:ext cx="2331720" cy="621792"/>
          </a:xfrm>
          <a:prstGeom prst="rect">
            <a:avLst/>
          </a:prstGeom>
          <a:solidFill>
            <a:srgbClr val="F0ECE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507992" y="4297680"/>
            <a:ext cx="2185416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real market exists; investors can align with mission; scale is needed fast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766560" y="4261104"/>
            <a:ext cx="2423160" cy="621792"/>
          </a:xfrm>
          <a:prstGeom prst="rect">
            <a:avLst/>
          </a:prstGeom>
          <a:solidFill>
            <a:srgbClr val="F0ECE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839712" y="4297680"/>
            <a:ext cx="2276856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Some paying customers + some beneficiaries who cannot pay; cross-subsidy needed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503920" cy="4937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Ethical Challenges in Social Entrepreneurship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2D1B69">
              <a:alpha val="90000"/>
            </a:srgbClr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873752"/>
            <a:ext cx="8503920" cy="2697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D4CC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Social Entrepreneurship &amp; Civic Innovation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38912" y="768096"/>
            <a:ext cx="8321040" cy="475488"/>
          </a:xfrm>
          <a:prstGeom prst="rect">
            <a:avLst/>
          </a:prstGeom>
          <a:solidFill>
            <a:srgbClr val="2D1B69"/>
          </a:solidFill>
          <a:ln w="19050">
            <a:solidFill>
              <a:srgbClr val="E852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786384"/>
            <a:ext cx="8065008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CC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Social entrepreneurs face a unique set of ethical tensions because they operate at the intersection of business (which is driven by incentives) and social change (which is driven by values). Unlike a traditional business that can ignore ethics if it remains profitable, a social enterprise that loses its ethical compass loses its reason to exist.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" y="1335024"/>
            <a:ext cx="4069080" cy="1389888"/>
          </a:xfrm>
          <a:prstGeom prst="rect">
            <a:avLst/>
          </a:prstGeom>
          <a:solidFill>
            <a:srgbClr val="FFFFFF"/>
          </a:solidFill>
          <a:ln w="19050">
            <a:solidFill>
              <a:srgbClr val="E8522A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" y="1335024"/>
            <a:ext cx="4069080" cy="310896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335024"/>
            <a:ext cx="38862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1.  Mission Drift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30352" y="1682496"/>
            <a:ext cx="38862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organisation gradually shifts its activities away from its original social mission — usually because profitable activities are prioritised over impactful but less profitable ones.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30352" y="2103120"/>
            <a:ext cx="3886200" cy="18288"/>
          </a:xfrm>
          <a:prstGeom prst="rect">
            <a:avLst/>
          </a:prstGeom>
          <a:solidFill>
            <a:srgbClr val="E8522A">
              <a:alpha val="45000"/>
            </a:srgbClr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2139696"/>
            <a:ext cx="3886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52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Example: </a:t>
            </a:r>
            <a:r>
              <a:rPr lang="en-US" sz="850" i="1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microfinance institution that starts targeting wealthier clients because they repay more reliably, abandoning the poorest borrowers it was created to serve.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99432" y="1335024"/>
            <a:ext cx="4069080" cy="1389888"/>
          </a:xfrm>
          <a:prstGeom prst="rect">
            <a:avLst/>
          </a:prstGeom>
          <a:solidFill>
            <a:srgbClr val="FFFFFF"/>
          </a:solidFill>
          <a:ln w="19050">
            <a:solidFill>
              <a:srgbClr val="F5A623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99432" y="1335024"/>
            <a:ext cx="4069080" cy="31089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90872" y="1335024"/>
            <a:ext cx="38862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2.  Paternalism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690872" y="1682496"/>
            <a:ext cx="38862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Designing solutions for communities without meaningful involvement from those communities — essentially deciding for people what they need, rather than asking them.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90872" y="2103120"/>
            <a:ext cx="3886200" cy="18288"/>
          </a:xfrm>
          <a:prstGeom prst="rect">
            <a:avLst/>
          </a:prstGeom>
          <a:solidFill>
            <a:srgbClr val="F5A623">
              <a:alpha val="45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90872" y="2139696"/>
            <a:ext cx="3886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A6A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Example: </a:t>
            </a:r>
            <a:r>
              <a:rPr lang="en-US" sz="850" i="1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 NGO that builds wells in a village without consulting residents, only to discover the community preferred to solve water scarcity through a different mechanism.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8912" y="2816352"/>
            <a:ext cx="4069080" cy="1389888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38912" y="2816352"/>
            <a:ext cx="4069080" cy="3108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2816352"/>
            <a:ext cx="38862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3.  Impact Washing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30352" y="3163824"/>
            <a:ext cx="38862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Overstating, misrepresenting, or cherry-picking evidence of social impact to attract donors, investors, or public goodwill — similar to 'greenwashing' in the environmental space.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30352" y="3584448"/>
            <a:ext cx="3886200" cy="18288"/>
          </a:xfrm>
          <a:prstGeom prst="rect">
            <a:avLst/>
          </a:prstGeom>
          <a:solidFill>
            <a:srgbClr val="0D9488">
              <a:alpha val="4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" y="3621024"/>
            <a:ext cx="3886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Example: </a:t>
            </a:r>
            <a:r>
              <a:rPr lang="en-US" sz="850" i="1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Reporting that 10,000 students 'benefited' from a programme, while concealing that 'benefit' was defined as receiving a single brochure.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599432" y="2816352"/>
            <a:ext cx="4069080" cy="1389888"/>
          </a:xfrm>
          <a:prstGeom prst="rect">
            <a:avLst/>
          </a:prstGeom>
          <a:solidFill>
            <a:srgbClr val="FFFFFF"/>
          </a:solidFill>
          <a:ln w="19050">
            <a:solidFill>
              <a:srgbClr val="4E3D9E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99432" y="2816352"/>
            <a:ext cx="4069080" cy="310896"/>
          </a:xfrm>
          <a:prstGeom prst="rect">
            <a:avLst/>
          </a:prstGeom>
          <a:solidFill>
            <a:srgbClr val="4E3D9E"/>
          </a:solidFill>
          <a:ln w="12700">
            <a:solidFill>
              <a:srgbClr val="4E3D9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90872" y="2816352"/>
            <a:ext cx="38862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4.  Exploitation of Beneficiaries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690872" y="3163824"/>
            <a:ext cx="38862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Using beneficiaries' stories, data, or images without proper consent, or in ways that are sensationalised, disempowering, or humiliating — even with good intentions.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90872" y="3584448"/>
            <a:ext cx="3886200" cy="18288"/>
          </a:xfrm>
          <a:prstGeom prst="rect">
            <a:avLst/>
          </a:prstGeom>
          <a:solidFill>
            <a:srgbClr val="4E3D9E">
              <a:alpha val="45000"/>
            </a:srgbClr>
          </a:solidFill>
          <a:ln w="12700">
            <a:solidFill>
              <a:srgbClr val="4E3D9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90872" y="3621024"/>
            <a:ext cx="3886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E3D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Example: </a:t>
            </a:r>
            <a:r>
              <a:rPr lang="en-US" sz="850" i="1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Using photographs of malnourished children without consent to raise funds, in a way that reduces complex people to their suffering.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30352" y="5065776"/>
            <a:ext cx="3886200" cy="18288"/>
          </a:xfrm>
          <a:prstGeom prst="rect">
            <a:avLst/>
          </a:prstGeom>
          <a:solidFill>
            <a:srgbClr val="D47A0A">
              <a:alpha val="45000"/>
            </a:srgbClr>
          </a:solidFill>
          <a:ln w="12700">
            <a:solidFill>
              <a:srgbClr val="D47A0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690872" y="5065776"/>
            <a:ext cx="3886200" cy="18288"/>
          </a:xfrm>
          <a:prstGeom prst="rect">
            <a:avLst/>
          </a:prstGeom>
          <a:solidFill>
            <a:srgbClr val="C0392B">
              <a:alpha val="45000"/>
            </a:srgbClr>
          </a:solidFill>
          <a:ln w="12700">
            <a:solidFill>
              <a:srgbClr val="C0392B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503920" cy="4937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Ethical Challenges in Social Entrepreneurship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2D1B69">
              <a:alpha val="90000"/>
            </a:srgbClr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873752"/>
            <a:ext cx="8503920" cy="2697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D4CC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Social Entrepreneurship &amp; Civic Innovation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38912" y="1335024"/>
            <a:ext cx="4069080" cy="1389888"/>
          </a:xfrm>
          <a:prstGeom prst="rect">
            <a:avLst/>
          </a:prstGeom>
          <a:solidFill>
            <a:srgbClr val="FFFFFF"/>
          </a:solidFill>
          <a:ln w="19050">
            <a:solidFill>
              <a:srgbClr val="E8522A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" y="1335024"/>
            <a:ext cx="4069080" cy="310896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335024"/>
            <a:ext cx="38862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  <a:sym typeface="+mn-ea"/>
              </a:rPr>
              <a:t>5.  Unsustainable Dependency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30352" y="1682496"/>
            <a:ext cx="38862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Creating programmes that make beneficiaries dependent on the enterprise rather than building their own capacities and agency over time.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30352" y="2103120"/>
            <a:ext cx="3886200" cy="18288"/>
          </a:xfrm>
          <a:prstGeom prst="rect">
            <a:avLst/>
          </a:prstGeom>
          <a:solidFill>
            <a:srgbClr val="E8522A">
              <a:alpha val="45000"/>
            </a:srgbClr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2139696"/>
            <a:ext cx="3886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D47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Example: </a:t>
            </a:r>
            <a:r>
              <a:rPr lang="en-US" sz="850" i="1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A food distribution programme that delivers meals indefinitely, suppressing local food markets and creating chronic dependency on the enterprise.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99432" y="1335024"/>
            <a:ext cx="4069080" cy="1389888"/>
          </a:xfrm>
          <a:prstGeom prst="rect">
            <a:avLst/>
          </a:prstGeom>
          <a:solidFill>
            <a:srgbClr val="FFFFFF"/>
          </a:solidFill>
          <a:ln w="19050">
            <a:solidFill>
              <a:srgbClr val="F5A623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99432" y="1335024"/>
            <a:ext cx="4069080" cy="31089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90872" y="1335024"/>
            <a:ext cx="38862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  <a:sym typeface="+mn-ea"/>
              </a:rPr>
              <a:t>6.  Governance &amp; Accountability Gaps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690872" y="1682496"/>
            <a:ext cx="38862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Lack of transparent governance structures means that even well-intentioned leaders can make decisions that serve personal interests rather than the mission.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90872" y="2103120"/>
            <a:ext cx="3886200" cy="18288"/>
          </a:xfrm>
          <a:prstGeom prst="rect">
            <a:avLst/>
          </a:prstGeom>
          <a:solidFill>
            <a:srgbClr val="F5A623">
              <a:alpha val="45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90872" y="2139696"/>
            <a:ext cx="3886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Example: </a:t>
            </a:r>
            <a:r>
              <a:rPr lang="en-US" sz="850" i="1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A founder who controls the board and uses the enterprise's resources for personal benefit or prevents the organisation from being questioned or audited.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30352" y="2816352"/>
            <a:ext cx="38862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3.  Impact Washing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530352" y="4297680"/>
            <a:ext cx="38862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5.  Unsustainable Dependency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530352" y="4645152"/>
            <a:ext cx="38862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30352" y="5065776"/>
            <a:ext cx="3886200" cy="18288"/>
          </a:xfrm>
          <a:prstGeom prst="rect">
            <a:avLst/>
          </a:prstGeom>
          <a:solidFill>
            <a:srgbClr val="D47A0A">
              <a:alpha val="45000"/>
            </a:srgbClr>
          </a:solidFill>
          <a:ln w="12700">
            <a:solidFill>
              <a:srgbClr val="D47A0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0352" y="5102352"/>
            <a:ext cx="3886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690872" y="4297680"/>
            <a:ext cx="38862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4690872" y="4645152"/>
            <a:ext cx="38862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690872" y="5065776"/>
            <a:ext cx="3886200" cy="18288"/>
          </a:xfrm>
          <a:prstGeom prst="rect">
            <a:avLst/>
          </a:prstGeom>
          <a:solidFill>
            <a:srgbClr val="C0392B">
              <a:alpha val="45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90872" y="5102352"/>
            <a:ext cx="3886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503920" cy="4937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Navigating Ethical Challenges: Principles &amp; Practical Checks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2D1B69">
              <a:alpha val="90000"/>
            </a:srgbClr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873752"/>
            <a:ext cx="8503920" cy="2697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D4CC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Social Entrepreneurship &amp; Civic Innovation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38912" y="768096"/>
            <a:ext cx="8321040" cy="438912"/>
          </a:xfrm>
          <a:prstGeom prst="rect">
            <a:avLst/>
          </a:prstGeom>
          <a:solidFill>
            <a:srgbClr val="2D1B69"/>
          </a:solidFill>
          <a:ln w="19050">
            <a:solidFill>
              <a:srgbClr val="E852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786384"/>
            <a:ext cx="8065008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CC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Ethical challenges cannot be eliminated — but they can be anticipated, openly discussed, and managed through good governance and honest self-reflection. The following principles and checks help social entrepreneurs stay on track.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" y="1298448"/>
            <a:ext cx="1627632" cy="3401568"/>
          </a:xfrm>
          <a:prstGeom prst="rect">
            <a:avLst/>
          </a:prstGeom>
          <a:solidFill>
            <a:srgbClr val="FFFFFF"/>
          </a:solidFill>
          <a:ln w="25400">
            <a:solidFill>
              <a:srgbClr val="E852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" y="1298448"/>
            <a:ext cx="1627632" cy="310896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1298448"/>
            <a:ext cx="16276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Do No Harm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78408" y="1682496"/>
            <a:ext cx="548640" cy="548640"/>
          </a:xfrm>
          <a:prstGeom prst="ellipse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755648"/>
            <a:ext cx="402336" cy="40233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30352" y="2304288"/>
            <a:ext cx="1444752" cy="1737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Before any programme or decision, ask: who could be harmed by this — directly or indirectly? Consider unintended consequences. Include beneficiary voices in risk assessments.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30352" y="4059936"/>
            <a:ext cx="1444752" cy="18288"/>
          </a:xfrm>
          <a:prstGeom prst="rect">
            <a:avLst/>
          </a:prstGeom>
          <a:solidFill>
            <a:srgbClr val="E8522A">
              <a:alpha val="45000"/>
            </a:srgbClr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30352" y="4096512"/>
            <a:ext cx="1444752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52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Ask yourself: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2121408" y="1298448"/>
            <a:ext cx="1627632" cy="3401568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121408" y="1298448"/>
            <a:ext cx="1627632" cy="3108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121408" y="1298448"/>
            <a:ext cx="16276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Transparency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2660904" y="1682496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4056" y="1755648"/>
            <a:ext cx="402336" cy="40233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2212848" y="2304288"/>
            <a:ext cx="1444752" cy="1737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Publish your impact data, your finances, and your governance structure. If you would be uncomfortable with stakeholders seeing a decision, reconsider it.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2212848" y="4059936"/>
            <a:ext cx="1444752" cy="18288"/>
          </a:xfrm>
          <a:prstGeom prst="rect">
            <a:avLst/>
          </a:prstGeom>
          <a:solidFill>
            <a:srgbClr val="0D9488">
              <a:alpha val="4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2212848" y="4096512"/>
            <a:ext cx="1444752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Ask yourself: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3803904" y="1298448"/>
            <a:ext cx="1627632" cy="3401568"/>
          </a:xfrm>
          <a:prstGeom prst="rect">
            <a:avLst/>
          </a:prstGeom>
          <a:solidFill>
            <a:srgbClr val="FFFFFF"/>
          </a:solidFill>
          <a:ln w="254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3803904" y="1298448"/>
            <a:ext cx="1627632" cy="31089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3803904" y="1298448"/>
            <a:ext cx="16276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Meaningful Participation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4343400" y="1682496"/>
            <a:ext cx="548640" cy="5486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6552" y="1755648"/>
            <a:ext cx="402336" cy="402336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3895344" y="2304288"/>
            <a:ext cx="1444752" cy="1737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Beneficiaries are experts on their own lives. Involve them in problem definition, solution design, and evaluation — not just as recipients of your outputs.</a:t>
            </a:r>
            <a:endParaRPr lang="en-US" sz="950" dirty="0"/>
          </a:p>
        </p:txBody>
      </p:sp>
      <p:sp>
        <p:nvSpPr>
          <p:cNvPr id="31" name="Shape 26"/>
          <p:cNvSpPr/>
          <p:nvPr/>
        </p:nvSpPr>
        <p:spPr>
          <a:xfrm>
            <a:off x="3895344" y="4059936"/>
            <a:ext cx="1444752" cy="18288"/>
          </a:xfrm>
          <a:prstGeom prst="rect">
            <a:avLst/>
          </a:prstGeom>
          <a:solidFill>
            <a:srgbClr val="F5A623">
              <a:alpha val="45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3895344" y="4096512"/>
            <a:ext cx="1444752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Ask yourself:</a:t>
            </a:r>
            <a:endParaRPr lang="en-US" sz="900" dirty="0"/>
          </a:p>
        </p:txBody>
      </p:sp>
      <p:sp>
        <p:nvSpPr>
          <p:cNvPr id="33" name="Shape 28"/>
          <p:cNvSpPr/>
          <p:nvPr/>
        </p:nvSpPr>
        <p:spPr>
          <a:xfrm>
            <a:off x="5486400" y="1298448"/>
            <a:ext cx="1627632" cy="3401568"/>
          </a:xfrm>
          <a:prstGeom prst="rect">
            <a:avLst/>
          </a:prstGeom>
          <a:solidFill>
            <a:srgbClr val="FFFFFF"/>
          </a:solidFill>
          <a:ln w="25400">
            <a:solidFill>
              <a:srgbClr val="4E3D9E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5486400" y="1298448"/>
            <a:ext cx="1627632" cy="310896"/>
          </a:xfrm>
          <a:prstGeom prst="rect">
            <a:avLst/>
          </a:prstGeom>
          <a:solidFill>
            <a:srgbClr val="4E3D9E"/>
          </a:solidFill>
          <a:ln w="12700">
            <a:solidFill>
              <a:srgbClr val="4E3D9E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5486400" y="1298448"/>
            <a:ext cx="16276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Honest Impact Measurement</a:t>
            </a:r>
            <a:endParaRPr lang="en-US" sz="1100" dirty="0"/>
          </a:p>
        </p:txBody>
      </p:sp>
      <p:sp>
        <p:nvSpPr>
          <p:cNvPr id="36" name="Shape 31"/>
          <p:cNvSpPr/>
          <p:nvPr/>
        </p:nvSpPr>
        <p:spPr>
          <a:xfrm>
            <a:off x="6025896" y="1682496"/>
            <a:ext cx="548640" cy="548640"/>
          </a:xfrm>
          <a:prstGeom prst="ellipse">
            <a:avLst/>
          </a:prstGeom>
          <a:solidFill>
            <a:srgbClr val="4E3D9E"/>
          </a:solidFill>
          <a:ln w="12700">
            <a:solidFill>
              <a:srgbClr val="4E3D9E"/>
            </a:solidFill>
            <a:prstDash val="solid"/>
          </a:ln>
        </p:spPr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9048" y="1755648"/>
            <a:ext cx="402336" cy="402336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5577840" y="2304288"/>
            <a:ext cx="1444752" cy="1737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Measure outcomes, not just outputs. 200 workshops held ≠ 200 lives changed. Use control groups, pre/post comparison, and independent evaluation where possible.</a:t>
            </a:r>
            <a:endParaRPr lang="en-US" sz="950" dirty="0"/>
          </a:p>
        </p:txBody>
      </p:sp>
      <p:sp>
        <p:nvSpPr>
          <p:cNvPr id="39" name="Shape 33"/>
          <p:cNvSpPr/>
          <p:nvPr/>
        </p:nvSpPr>
        <p:spPr>
          <a:xfrm>
            <a:off x="5577840" y="4059936"/>
            <a:ext cx="1444752" cy="18288"/>
          </a:xfrm>
          <a:prstGeom prst="rect">
            <a:avLst/>
          </a:prstGeom>
          <a:solidFill>
            <a:srgbClr val="4E3D9E">
              <a:alpha val="45000"/>
            </a:srgbClr>
          </a:solidFill>
          <a:ln w="12700">
            <a:solidFill>
              <a:srgbClr val="4E3D9E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5577840" y="4096512"/>
            <a:ext cx="1444752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E3D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Ask yourself:</a:t>
            </a:r>
            <a:endParaRPr lang="en-US" sz="900" dirty="0"/>
          </a:p>
        </p:txBody>
      </p:sp>
      <p:sp>
        <p:nvSpPr>
          <p:cNvPr id="41" name="Shape 35"/>
          <p:cNvSpPr/>
          <p:nvPr/>
        </p:nvSpPr>
        <p:spPr>
          <a:xfrm>
            <a:off x="7168896" y="1298448"/>
            <a:ext cx="1627632" cy="3401568"/>
          </a:xfrm>
          <a:prstGeom prst="rect">
            <a:avLst/>
          </a:prstGeom>
          <a:solidFill>
            <a:srgbClr val="FFFFFF"/>
          </a:solidFill>
          <a:ln w="25400">
            <a:solidFill>
              <a:srgbClr val="D47A0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2" name="Shape 36"/>
          <p:cNvSpPr/>
          <p:nvPr/>
        </p:nvSpPr>
        <p:spPr>
          <a:xfrm>
            <a:off x="7168896" y="1298448"/>
            <a:ext cx="1627632" cy="310896"/>
          </a:xfrm>
          <a:prstGeom prst="rect">
            <a:avLst/>
          </a:prstGeom>
          <a:solidFill>
            <a:srgbClr val="D47A0A"/>
          </a:solidFill>
          <a:ln w="12700">
            <a:solidFill>
              <a:srgbClr val="D47A0A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7168896" y="1298448"/>
            <a:ext cx="16276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Independent Governance</a:t>
            </a:r>
            <a:endParaRPr lang="en-US" sz="1100" dirty="0"/>
          </a:p>
        </p:txBody>
      </p:sp>
      <p:sp>
        <p:nvSpPr>
          <p:cNvPr id="44" name="Shape 38"/>
          <p:cNvSpPr/>
          <p:nvPr/>
        </p:nvSpPr>
        <p:spPr>
          <a:xfrm>
            <a:off x="7708392" y="1682496"/>
            <a:ext cx="548640" cy="548640"/>
          </a:xfrm>
          <a:prstGeom prst="ellipse">
            <a:avLst/>
          </a:prstGeom>
          <a:solidFill>
            <a:srgbClr val="D47A0A"/>
          </a:solidFill>
          <a:ln w="12700">
            <a:solidFill>
              <a:srgbClr val="D47A0A"/>
            </a:solidFill>
            <a:prstDash val="solid"/>
          </a:ln>
        </p:spPr>
      </p:sp>
      <p:pic>
        <p:nvPicPr>
          <p:cNvPr id="4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81544" y="1755648"/>
            <a:ext cx="402336" cy="402336"/>
          </a:xfrm>
          <a:prstGeom prst="rect">
            <a:avLst/>
          </a:prstGeom>
        </p:spPr>
      </p:pic>
      <p:sp>
        <p:nvSpPr>
          <p:cNvPr id="46" name="Text 39"/>
          <p:cNvSpPr/>
          <p:nvPr/>
        </p:nvSpPr>
        <p:spPr>
          <a:xfrm>
            <a:off x="7260336" y="2304288"/>
            <a:ext cx="1444752" cy="1737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Have a board with members who are genuinely independent of the founder. Empower them to question, challenge, and if necessary override leadership decisions.</a:t>
            </a:r>
            <a:endParaRPr lang="en-US" sz="950" dirty="0"/>
          </a:p>
        </p:txBody>
      </p:sp>
      <p:sp>
        <p:nvSpPr>
          <p:cNvPr id="47" name="Shape 40"/>
          <p:cNvSpPr/>
          <p:nvPr/>
        </p:nvSpPr>
        <p:spPr>
          <a:xfrm>
            <a:off x="7260336" y="4059936"/>
            <a:ext cx="1444752" cy="18288"/>
          </a:xfrm>
          <a:prstGeom prst="rect">
            <a:avLst/>
          </a:prstGeom>
          <a:solidFill>
            <a:srgbClr val="D47A0A">
              <a:alpha val="45000"/>
            </a:srgbClr>
          </a:solidFill>
          <a:ln w="12700">
            <a:solidFill>
              <a:srgbClr val="D47A0A"/>
            </a:solidFill>
            <a:prstDash val="solid"/>
          </a:ln>
        </p:spPr>
      </p:sp>
      <p:sp>
        <p:nvSpPr>
          <p:cNvPr id="48" name="Text 41"/>
          <p:cNvSpPr/>
          <p:nvPr/>
        </p:nvSpPr>
        <p:spPr>
          <a:xfrm>
            <a:off x="7260336" y="4096512"/>
            <a:ext cx="1444752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47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Ask yourself:</a:t>
            </a:r>
            <a:endParaRPr lang="en-US" sz="900" dirty="0"/>
          </a:p>
        </p:txBody>
      </p:sp>
      <p:sp>
        <p:nvSpPr>
          <p:cNvPr id="49" name="Text 42"/>
          <p:cNvSpPr/>
          <p:nvPr/>
        </p:nvSpPr>
        <p:spPr>
          <a:xfrm>
            <a:off x="530352" y="4279392"/>
            <a:ext cx="1444752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3D30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Who could be harmed if this goes wrong?</a:t>
            </a:r>
            <a:endParaRPr lang="en-US" sz="850" dirty="0"/>
          </a:p>
        </p:txBody>
      </p:sp>
      <p:sp>
        <p:nvSpPr>
          <p:cNvPr id="50" name="Text 43"/>
          <p:cNvSpPr/>
          <p:nvPr/>
        </p:nvSpPr>
        <p:spPr>
          <a:xfrm>
            <a:off x="2212848" y="4279392"/>
            <a:ext cx="1444752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3D30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Would we publish this decision and be proud?</a:t>
            </a:r>
            <a:endParaRPr lang="en-US" sz="850" dirty="0"/>
          </a:p>
        </p:txBody>
      </p:sp>
      <p:sp>
        <p:nvSpPr>
          <p:cNvPr id="51" name="Text 44"/>
          <p:cNvSpPr/>
          <p:nvPr/>
        </p:nvSpPr>
        <p:spPr>
          <a:xfrm>
            <a:off x="3895344" y="4279392"/>
            <a:ext cx="1444752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3D30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Have those affected had a real say?</a:t>
            </a:r>
            <a:endParaRPr lang="en-US" sz="850" dirty="0"/>
          </a:p>
        </p:txBody>
      </p:sp>
      <p:sp>
        <p:nvSpPr>
          <p:cNvPr id="52" name="Text 45"/>
          <p:cNvSpPr/>
          <p:nvPr/>
        </p:nvSpPr>
        <p:spPr>
          <a:xfrm>
            <a:off x="5577840" y="4279392"/>
            <a:ext cx="1444752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3D30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Are we measuring what actually matters?</a:t>
            </a:r>
            <a:endParaRPr lang="en-US" sz="850" dirty="0"/>
          </a:p>
        </p:txBody>
      </p:sp>
      <p:sp>
        <p:nvSpPr>
          <p:cNvPr id="53" name="Text 46"/>
          <p:cNvSpPr/>
          <p:nvPr/>
        </p:nvSpPr>
        <p:spPr>
          <a:xfrm>
            <a:off x="7260336" y="4279392"/>
            <a:ext cx="1444752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3D30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Could the board override me if needed?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503920" cy="4937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Registering a Social Enterprise in Pakistan: High-Level Overview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2D1B69">
              <a:alpha val="90000"/>
            </a:srgbClr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873752"/>
            <a:ext cx="8503920" cy="2697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D4CC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Social Entrepreneurship &amp; Civic Innovation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38912" y="768096"/>
            <a:ext cx="8321040" cy="475488"/>
          </a:xfrm>
          <a:prstGeom prst="rect">
            <a:avLst/>
          </a:prstGeom>
          <a:solidFill>
            <a:srgbClr val="2D1B69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786384"/>
            <a:ext cx="8065008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CC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Pakistan does not yet have a dedicated 'social enterprise' legal category. Social entrepreneurs must choose the most appropriate existing legal structure based on their model. Each structure has different registration bodies, tax implications, and governance requirements.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" y="1335024"/>
            <a:ext cx="1984248" cy="333756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" y="1335024"/>
            <a:ext cx="1984248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1371600"/>
            <a:ext cx="1984248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Section 42 Company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(Non-Profit)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0352" y="1975104"/>
            <a:ext cx="1801368" cy="18288"/>
          </a:xfrm>
          <a:prstGeom prst="rect">
            <a:avLst/>
          </a:prstGeom>
          <a:solidFill>
            <a:srgbClr val="0D9488">
              <a:alpha val="4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011680"/>
            <a:ext cx="180136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Registered by: </a:t>
            </a:r>
            <a:r>
              <a:rPr lang="en-US" sz="850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SECP (Securities &amp; Exchange Commission of Pakistan)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30352" y="2286000"/>
            <a:ext cx="180136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Best for: </a:t>
            </a:r>
            <a:r>
              <a:rPr lang="en-US" sz="850" i="1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Mission-led non-profits, social enterprises with no profit distribution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30352" y="2670048"/>
            <a:ext cx="1801368" cy="18288"/>
          </a:xfrm>
          <a:prstGeom prst="rect">
            <a:avLst/>
          </a:prstGeom>
          <a:solidFill>
            <a:srgbClr val="0D9488">
              <a:alpha val="4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2706624"/>
            <a:ext cx="1801368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advantages: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30352" y="2907792"/>
            <a:ext cx="1801368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Tax-exempt status available (FBR registration)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Eligible for institutional grants and government contracts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Formal legal personality — can own assets, sign contracts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Most recognized structure for international funding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30352" y="3895344"/>
            <a:ext cx="1801368" cy="18288"/>
          </a:xfrm>
          <a:prstGeom prst="rect">
            <a:avLst/>
          </a:prstGeom>
          <a:solidFill>
            <a:srgbClr val="0D9488">
              <a:alpha val="4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3931920"/>
            <a:ext cx="1801368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</a:rPr>
              <a:t>⏱ </a:t>
            </a:r>
            <a:r>
              <a:rPr lang="en-US" sz="9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4–8 weeks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30352" y="4133088"/>
            <a:ext cx="1801368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A6F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File Memorandum &amp; Articles with SECP → SECP approval → FBR registration → Tax exemption (where applicable)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496312" y="1335024"/>
            <a:ext cx="1984248" cy="3337560"/>
          </a:xfrm>
          <a:prstGeom prst="rect">
            <a:avLst/>
          </a:prstGeom>
          <a:solidFill>
            <a:srgbClr val="FFFFFF"/>
          </a:solidFill>
          <a:ln w="25400">
            <a:solidFill>
              <a:srgbClr val="F7BC5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496312" y="1335024"/>
            <a:ext cx="1984248" cy="594360"/>
          </a:xfrm>
          <a:prstGeom prst="rect">
            <a:avLst/>
          </a:prstGeom>
          <a:solidFill>
            <a:srgbClr val="F7BC5A"/>
          </a:solidFill>
          <a:ln w="12700">
            <a:solidFill>
              <a:srgbClr val="F7BC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96312" y="1371600"/>
            <a:ext cx="1984248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Trust or Society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(Non-Profit)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587752" y="1975104"/>
            <a:ext cx="1801368" cy="18288"/>
          </a:xfrm>
          <a:prstGeom prst="rect">
            <a:avLst/>
          </a:prstGeom>
          <a:solidFill>
            <a:srgbClr val="F7BC5A">
              <a:alpha val="45000"/>
            </a:srgbClr>
          </a:solidFill>
          <a:ln w="12700">
            <a:solidFill>
              <a:srgbClr val="F7BC5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87752" y="2011680"/>
            <a:ext cx="180136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7BC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Registered by: </a:t>
            </a:r>
            <a:r>
              <a:rPr lang="en-US" sz="850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Provincial Social Welfare Departments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587752" y="2286000"/>
            <a:ext cx="180136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7BC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Best for: </a:t>
            </a:r>
            <a:r>
              <a:rPr lang="en-US" sz="850" i="1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Community organisations, foundations, local welfare bodies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587752" y="2670048"/>
            <a:ext cx="1801368" cy="18288"/>
          </a:xfrm>
          <a:prstGeom prst="rect">
            <a:avLst/>
          </a:prstGeom>
          <a:solidFill>
            <a:srgbClr val="F7BC5A">
              <a:alpha val="45000"/>
            </a:srgbClr>
          </a:solidFill>
          <a:ln w="12700">
            <a:solidFill>
              <a:srgbClr val="F7BC5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87752" y="2706624"/>
            <a:ext cx="1801368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7BC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advantages: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587752" y="2907792"/>
            <a:ext cx="1801368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Simpler registration than SECP for smaller organisations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Long-established legal form with broad community recognition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Suitable for charitable giving and service delivery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province has its own Trusts or Societies Act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587752" y="3895344"/>
            <a:ext cx="1801368" cy="18288"/>
          </a:xfrm>
          <a:prstGeom prst="rect">
            <a:avLst/>
          </a:prstGeom>
          <a:solidFill>
            <a:srgbClr val="F7BC5A">
              <a:alpha val="45000"/>
            </a:srgbClr>
          </a:solidFill>
          <a:ln w="12700">
            <a:solidFill>
              <a:srgbClr val="F7BC5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87752" y="3931920"/>
            <a:ext cx="1801368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</a:rPr>
              <a:t>⏱ </a:t>
            </a:r>
            <a:r>
              <a:rPr lang="en-US" sz="900" b="1" dirty="0">
                <a:solidFill>
                  <a:srgbClr val="F7BC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2–6 weeks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587752" y="4133088"/>
            <a:ext cx="1801368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A6F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File deed/constitution with Provincial Registrar → Registration → Open bank account under organisation name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553712" y="1335024"/>
            <a:ext cx="1984248" cy="3337560"/>
          </a:xfrm>
          <a:prstGeom prst="rect">
            <a:avLst/>
          </a:prstGeom>
          <a:solidFill>
            <a:srgbClr val="FFFFFF"/>
          </a:solidFill>
          <a:ln w="25400">
            <a:solidFill>
              <a:srgbClr val="E852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53712" y="1335024"/>
            <a:ext cx="1984248" cy="594360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53712" y="1371600"/>
            <a:ext cx="1984248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Private Limited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Company (SMC/Multi)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645152" y="1975104"/>
            <a:ext cx="1801368" cy="18288"/>
          </a:xfrm>
          <a:prstGeom prst="rect">
            <a:avLst/>
          </a:prstGeom>
          <a:solidFill>
            <a:srgbClr val="E8522A">
              <a:alpha val="45000"/>
            </a:srgbClr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45152" y="2011680"/>
            <a:ext cx="180136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52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Registered by: </a:t>
            </a:r>
            <a:r>
              <a:rPr lang="en-US" sz="850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SECP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645152" y="2286000"/>
            <a:ext cx="180136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52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Best for: </a:t>
            </a:r>
            <a:r>
              <a:rPr lang="en-US" sz="850" i="1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For-profit social enterprises, hybrid models, social startups seeking investment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645152" y="2670048"/>
            <a:ext cx="1801368" cy="18288"/>
          </a:xfrm>
          <a:prstGeom prst="rect">
            <a:avLst/>
          </a:prstGeom>
          <a:solidFill>
            <a:srgbClr val="E8522A">
              <a:alpha val="45000"/>
            </a:srgbClr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45152" y="2706624"/>
            <a:ext cx="1801368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52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advantages: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645152" y="2907792"/>
            <a:ext cx="1801368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 raise equity investment from shareholders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restriction on profit distribution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access to commercial banking and contracts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Eligible for SMEDA support and startup programmes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645152" y="3895344"/>
            <a:ext cx="1801368" cy="18288"/>
          </a:xfrm>
          <a:prstGeom prst="rect">
            <a:avLst/>
          </a:prstGeom>
          <a:solidFill>
            <a:srgbClr val="E8522A">
              <a:alpha val="45000"/>
            </a:srgbClr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45152" y="3931920"/>
            <a:ext cx="1801368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</a:rPr>
              <a:t>⏱ </a:t>
            </a:r>
            <a:r>
              <a:rPr lang="en-US" sz="900" b="1" dirty="0">
                <a:solidFill>
                  <a:srgbClr val="E852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2–4 weeks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645152" y="4133088"/>
            <a:ext cx="1801368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A6F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Name reservation with SECP → Company registration → NTN with FBR → Provincial trade licence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6611112" y="1335024"/>
            <a:ext cx="1984248" cy="3337560"/>
          </a:xfrm>
          <a:prstGeom prst="rect">
            <a:avLst/>
          </a:prstGeom>
          <a:solidFill>
            <a:srgbClr val="FFFFFF"/>
          </a:solidFill>
          <a:ln w="25400">
            <a:solidFill>
              <a:srgbClr val="4E3D9E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611112" y="1335024"/>
            <a:ext cx="1984248" cy="594360"/>
          </a:xfrm>
          <a:prstGeom prst="rect">
            <a:avLst/>
          </a:prstGeom>
          <a:solidFill>
            <a:srgbClr val="4E3D9E"/>
          </a:solidFill>
          <a:ln w="12700">
            <a:solidFill>
              <a:srgbClr val="4E3D9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11112" y="1371600"/>
            <a:ext cx="1984248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Co-operative Society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702552" y="1975104"/>
            <a:ext cx="1801368" cy="18288"/>
          </a:xfrm>
          <a:prstGeom prst="rect">
            <a:avLst/>
          </a:prstGeom>
          <a:solidFill>
            <a:srgbClr val="4E3D9E">
              <a:alpha val="45000"/>
            </a:srgbClr>
          </a:solidFill>
          <a:ln w="12700">
            <a:solidFill>
              <a:srgbClr val="4E3D9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702552" y="2011680"/>
            <a:ext cx="180136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E3D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Registered by: </a:t>
            </a:r>
            <a:r>
              <a:rPr lang="en-US" sz="850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Provincial Co-operative Departments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702552" y="2286000"/>
            <a:ext cx="180136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E3D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Best for: </a:t>
            </a:r>
            <a:r>
              <a:rPr lang="en-US" sz="850" i="1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Member-owned enterprises (farmers, artisans, workers)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702552" y="2670048"/>
            <a:ext cx="1801368" cy="18288"/>
          </a:xfrm>
          <a:prstGeom prst="rect">
            <a:avLst/>
          </a:prstGeom>
          <a:solidFill>
            <a:srgbClr val="4E3D9E">
              <a:alpha val="45000"/>
            </a:srgbClr>
          </a:solidFill>
          <a:ln w="12700">
            <a:solidFill>
              <a:srgbClr val="4E3D9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702552" y="2706624"/>
            <a:ext cx="1801368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E3D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advantages: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6702552" y="2907792"/>
            <a:ext cx="1801368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Democratic governance — one member, one vote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Profit shared among members, not investors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Provincial government often provides support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A10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Ideal for community economic empowerment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6702552" y="3895344"/>
            <a:ext cx="1801368" cy="18288"/>
          </a:xfrm>
          <a:prstGeom prst="rect">
            <a:avLst/>
          </a:prstGeom>
          <a:solidFill>
            <a:srgbClr val="4E3D9E">
              <a:alpha val="45000"/>
            </a:srgbClr>
          </a:solidFill>
          <a:ln w="12700">
            <a:solidFill>
              <a:srgbClr val="4E3D9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702552" y="3931920"/>
            <a:ext cx="1801368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</a:rPr>
              <a:t>⏱ </a:t>
            </a:r>
            <a:r>
              <a:rPr lang="en-US" sz="900" b="1" dirty="0">
                <a:solidFill>
                  <a:srgbClr val="4E3D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3–8 weeks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702552" y="4133088"/>
            <a:ext cx="1801368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A6F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File application with Provincial Co-operative Registrar → Approval → Annual compliance required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1B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74320"/>
            <a:ext cx="8229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F075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594360"/>
            <a:ext cx="82296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Social Entrepreneurship &amp; Civic Innovation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02920" y="1115568"/>
            <a:ext cx="8229600" cy="36576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170432"/>
            <a:ext cx="8229600" cy="502920"/>
          </a:xfrm>
          <a:prstGeom prst="rect">
            <a:avLst/>
          </a:prstGeom>
          <a:solidFill>
            <a:srgbClr val="3D2B85"/>
          </a:solidFill>
          <a:ln w="19050">
            <a:solidFill>
              <a:srgbClr val="E8522A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170432"/>
            <a:ext cx="1371600" cy="502920"/>
          </a:xfrm>
          <a:prstGeom prst="rect">
            <a:avLst/>
          </a:prstGeom>
          <a:solidFill>
            <a:srgbClr val="E8522A">
              <a:alpha val="85000"/>
            </a:srgbClr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225296"/>
            <a:ext cx="1261872" cy="3931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Definition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74520" y="1289304"/>
            <a:ext cx="22860" cy="265176"/>
          </a:xfrm>
          <a:prstGeom prst="rect">
            <a:avLst/>
          </a:prstGeom>
          <a:solidFill>
            <a:srgbClr val="E8522A">
              <a:alpha val="60000"/>
            </a:srgbClr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93392" y="1207008"/>
            <a:ext cx="6583680" cy="4297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4CC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Social entrepreneurship uses business principles to create lasting social change. Civic innovation applies this to public and community problems. The goal is always impact first, revenue as the enabler.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1700784"/>
            <a:ext cx="8229600" cy="502920"/>
          </a:xfrm>
          <a:prstGeom prst="rect">
            <a:avLst/>
          </a:prstGeom>
          <a:solidFill>
            <a:srgbClr val="3D2B85"/>
          </a:solidFill>
          <a:ln w="19050">
            <a:solidFill>
              <a:srgbClr val="F5A623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1700784"/>
            <a:ext cx="1371600" cy="502920"/>
          </a:xfrm>
          <a:prstGeom prst="rect">
            <a:avLst/>
          </a:prstGeom>
          <a:solidFill>
            <a:srgbClr val="F5A623">
              <a:alpha val="85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1755648"/>
            <a:ext cx="1261872" cy="3931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Key difference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874520" y="1819656"/>
            <a:ext cx="22860" cy="265176"/>
          </a:xfrm>
          <a:prstGeom prst="rect">
            <a:avLst/>
          </a:prstGeom>
          <a:solidFill>
            <a:srgbClr val="F5A623">
              <a:alpha val="60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93392" y="1737360"/>
            <a:ext cx="6583680" cy="4297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4CC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Unlike charities (donor-dependent) or CSR (brand-driven), social enterprises are designed to be self-sustaining. They serve a social mission AND generate enough income to keep doing so without constant external funding.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2231136"/>
            <a:ext cx="8229600" cy="502920"/>
          </a:xfrm>
          <a:prstGeom prst="rect">
            <a:avLst/>
          </a:prstGeom>
          <a:solidFill>
            <a:srgbClr val="3D2B85"/>
          </a:solidFill>
          <a:ln w="19050">
            <a:solidFill>
              <a:srgbClr val="0D9488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2920" y="2231136"/>
            <a:ext cx="1371600" cy="502920"/>
          </a:xfrm>
          <a:prstGeom prst="rect">
            <a:avLst/>
          </a:prstGeom>
          <a:solidFill>
            <a:srgbClr val="0D9488">
              <a:alpha val="8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2286000"/>
            <a:ext cx="1261872" cy="3931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Opportunities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2350008"/>
            <a:ext cx="22860" cy="265176"/>
          </a:xfrm>
          <a:prstGeom prst="rect">
            <a:avLst/>
          </a:prstGeom>
          <a:solidFill>
            <a:srgbClr val="0D9488">
              <a:alpha val="6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93392" y="2267712"/>
            <a:ext cx="6583680" cy="4297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4CC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persistent social problem is a signal of an unmet need. The social entrepreneur's job is to reframe that problem as a design challenge: who is suffering, why does no solution exist yet, and what would a viable one look like?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" y="2761488"/>
            <a:ext cx="8229600" cy="502920"/>
          </a:xfrm>
          <a:prstGeom prst="rect">
            <a:avLst/>
          </a:prstGeom>
          <a:solidFill>
            <a:srgbClr val="3D2B85"/>
          </a:solidFill>
          <a:ln w="19050">
            <a:solidFill>
              <a:srgbClr val="F07550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02920" y="2761488"/>
            <a:ext cx="1371600" cy="502920"/>
          </a:xfrm>
          <a:prstGeom prst="rect">
            <a:avLst/>
          </a:prstGeom>
          <a:solidFill>
            <a:srgbClr val="F07550">
              <a:alpha val="85000"/>
            </a:srgbClr>
          </a:solidFill>
          <a:ln w="12700">
            <a:solidFill>
              <a:srgbClr val="F075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2816352"/>
            <a:ext cx="1261872" cy="3931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Dual bottom line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874520" y="2880360"/>
            <a:ext cx="22860" cy="265176"/>
          </a:xfrm>
          <a:prstGeom prst="rect">
            <a:avLst/>
          </a:prstGeom>
          <a:solidFill>
            <a:srgbClr val="F07550">
              <a:alpha val="60000"/>
            </a:srgbClr>
          </a:solidFill>
          <a:ln w="12700">
            <a:solidFill>
              <a:srgbClr val="F075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93392" y="2798064"/>
            <a:ext cx="6583680" cy="4297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4CC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Impact and financial sustainability are equally important. Mission without money is unsustainable. Money without mission is just a regular business. Both must be actively tracked and balanced.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02920" y="3291840"/>
            <a:ext cx="8229600" cy="502920"/>
          </a:xfrm>
          <a:prstGeom prst="rect">
            <a:avLst/>
          </a:prstGeom>
          <a:solidFill>
            <a:srgbClr val="3D2B85"/>
          </a:solidFill>
          <a:ln w="19050">
            <a:solidFill>
              <a:srgbClr val="4E3D9E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02920" y="3291840"/>
            <a:ext cx="1371600" cy="502920"/>
          </a:xfrm>
          <a:prstGeom prst="rect">
            <a:avLst/>
          </a:prstGeom>
          <a:solidFill>
            <a:srgbClr val="4E3D9E">
              <a:alpha val="85000"/>
            </a:srgbClr>
          </a:solidFill>
          <a:ln w="12700">
            <a:solidFill>
              <a:srgbClr val="4E3D9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3346704"/>
            <a:ext cx="1261872" cy="3931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Models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410712"/>
            <a:ext cx="22860" cy="265176"/>
          </a:xfrm>
          <a:prstGeom prst="rect">
            <a:avLst/>
          </a:prstGeom>
          <a:solidFill>
            <a:srgbClr val="4E3D9E">
              <a:alpha val="60000"/>
            </a:srgbClr>
          </a:solidFill>
          <a:ln w="12700">
            <a:solidFill>
              <a:srgbClr val="4E3D9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93392" y="3328416"/>
            <a:ext cx="6583680" cy="4297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4CC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Non-profit, for-profit, and hybrid models each have different trade-offs. The right choice depends on who you serve, whether a paying market exists, and what funding sources are realistic for your context.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02920" y="3822192"/>
            <a:ext cx="8229600" cy="502920"/>
          </a:xfrm>
          <a:prstGeom prst="rect">
            <a:avLst/>
          </a:prstGeom>
          <a:solidFill>
            <a:srgbClr val="3D2B85"/>
          </a:solidFill>
          <a:ln w="19050">
            <a:solidFill>
              <a:srgbClr val="C0392B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02920" y="3822192"/>
            <a:ext cx="1371600" cy="502920"/>
          </a:xfrm>
          <a:prstGeom prst="rect">
            <a:avLst/>
          </a:prstGeom>
          <a:solidFill>
            <a:srgbClr val="C0392B">
              <a:alpha val="85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3877056"/>
            <a:ext cx="1261872" cy="3931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Ethics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3941064"/>
            <a:ext cx="22860" cy="265176"/>
          </a:xfrm>
          <a:prstGeom prst="rect">
            <a:avLst/>
          </a:prstGeom>
          <a:solidFill>
            <a:srgbClr val="C0392B">
              <a:alpha val="60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993392" y="3858768"/>
            <a:ext cx="6583680" cy="4297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4CC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Social entrepreneurs face unique ethical tensions — mission drift, paternalism, impact washing, dependency creation. Strong governance, transparency, beneficiary participation, and honest measurement are the antidotes.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02920" y="4352544"/>
            <a:ext cx="8229600" cy="502920"/>
          </a:xfrm>
          <a:prstGeom prst="rect">
            <a:avLst/>
          </a:prstGeom>
          <a:solidFill>
            <a:srgbClr val="3D2B85"/>
          </a:solidFill>
          <a:ln w="19050">
            <a:solidFill>
              <a:srgbClr val="F7BC5A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02920" y="4352544"/>
            <a:ext cx="1371600" cy="502920"/>
          </a:xfrm>
          <a:prstGeom prst="rect">
            <a:avLst/>
          </a:prstGeom>
          <a:solidFill>
            <a:srgbClr val="F7BC5A">
              <a:alpha val="85000"/>
            </a:srgbClr>
          </a:solidFill>
          <a:ln w="12700">
            <a:solidFill>
              <a:srgbClr val="F7BC5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4407408"/>
            <a:ext cx="1261872" cy="3931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Pakistan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874520" y="4471416"/>
            <a:ext cx="22860" cy="265176"/>
          </a:xfrm>
          <a:prstGeom prst="rect">
            <a:avLst/>
          </a:prstGeom>
          <a:solidFill>
            <a:srgbClr val="F7BC5A">
              <a:alpha val="60000"/>
            </a:srgbClr>
          </a:solidFill>
          <a:ln w="12700">
            <a:solidFill>
              <a:srgbClr val="F7BC5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993392" y="4389120"/>
            <a:ext cx="6583680" cy="4297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4CC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dedicated SE legal category exists. Choose: Section 42 Company, Trust/Society, Private Limited Co., or Co-operative — based on your model.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8522A">
              <a:alpha val="25000"/>
            </a:srgbClr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4873752"/>
            <a:ext cx="8503920" cy="2697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4CC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Social Entrepreneurship &amp; Civic Innovation  ·  End of Lecture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20161</Words>
  <Application>WPS Presentation</Application>
  <PresentationFormat>On-screen Show (16:9)</PresentationFormat>
  <Paragraphs>616</Paragraphs>
  <Slides>14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27" baseType="lpstr">
      <vt:lpstr>Arial</vt:lpstr>
      <vt:lpstr>SimSun</vt:lpstr>
      <vt:lpstr>Wingdings</vt:lpstr>
      <vt:lpstr>Calibri</vt:lpstr>
      <vt:lpstr>Calibri</vt:lpstr>
      <vt:lpstr>Calibri</vt:lpstr>
      <vt:lpstr>Georgia</vt:lpstr>
      <vt:lpstr>Georgia</vt:lpstr>
      <vt:lpstr>Georgia</vt:lpstr>
      <vt:lpstr>Microsoft YaHei</vt:lpstr>
      <vt:lpstr>Arial Unicode MS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Social Entrepreneurship &amp; Civic Innovation</dc:title>
  <dc:creator>PptxGenJS</dc:creator>
  <dc:subject>PptxGenJS Presentation</dc:subject>
  <cp:lastModifiedBy>Rabia Zia</cp:lastModifiedBy>
  <cp:revision>8</cp:revision>
  <dcterms:created xsi:type="dcterms:W3CDTF">2026-03-24T20:07:00Z</dcterms:created>
  <dcterms:modified xsi:type="dcterms:W3CDTF">2026-03-25T03:42:56Z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A75F840EB79C485993F1C08DDA0C9679_13</vt:lpwstr>
  </property>
  <property fmtid="{D5CDD505-2E9C-101B-9397-08002B2CF9AE}" pid="3" name="KSOProductBuildVer">
    <vt:lpwstr>1033-12.1.0.25242</vt:lpwstr>
  </property>
</Properties>
</file>